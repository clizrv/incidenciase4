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TAN Mon Cheri" charset="1" panose="00000000000000000000"/>
      <p:regular r:id="rId29"/>
    </p:embeddedFont>
    <p:embeddedFont>
      <p:font typeface="Nanum Square Round" charset="1" panose="020B0600000101010101"/>
      <p:regular r:id="rId30"/>
    </p:embeddedFont>
    <p:embeddedFont>
      <p:font typeface="Nanum Square Round Bold" charset="1" panose="020B0600000101010101"/>
      <p:regular r:id="rId31"/>
    </p:embeddedFont>
    <p:embeddedFont>
      <p:font typeface="Nanum Square" charset="1" panose="020B0600000101010101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jpeg" Type="http://schemas.openxmlformats.org/officeDocument/2006/relationships/image"/><Relationship Id="rId4" Target="../media/VAHMtSLqkPk.mp4" Type="http://schemas.openxmlformats.org/officeDocument/2006/relationships/video"/><Relationship Id="rId5" Target="../media/VAHMtSLqkPk.mp4" Type="http://schemas.microsoft.com/office/2007/relationships/media"/><Relationship Id="rId6" Target="https://drive.google.com/drive/folders/1DSo5PsVRHGbmcP4tDjNJuk2XnH7GsGYi?usp=sharing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jpeg" Type="http://schemas.openxmlformats.org/officeDocument/2006/relationships/image"/><Relationship Id="rId4" Target="../media/VAHMtmP6fts.mp4" Type="http://schemas.openxmlformats.org/officeDocument/2006/relationships/video"/><Relationship Id="rId5" Target="../media/VAHMtmP6fts.mp4" Type="http://schemas.microsoft.com/office/2007/relationships/media"/><Relationship Id="rId6" Target="https://drive.google.com/drive/folders/1DSo5PsVRHGbmcP4tDjNJuk2XnH7GsGYi?usp=sharing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.png" Type="http://schemas.openxmlformats.org/officeDocument/2006/relationships/image"/><Relationship Id="rId6" Target="../media/image21.jpeg" Type="http://schemas.openxmlformats.org/officeDocument/2006/relationships/image"/><Relationship Id="rId7" Target="../media/VAHMtJ6Th60.mp4" Type="http://schemas.openxmlformats.org/officeDocument/2006/relationships/video"/><Relationship Id="rId8" Target="../media/VAHMtJ6Th60.mp4" Type="http://schemas.microsoft.com/office/2007/relationships/media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8472" y="0"/>
            <a:ext cx="10389528" cy="10287000"/>
          </a:xfrm>
          <a:custGeom>
            <a:avLst/>
            <a:gdLst/>
            <a:ahLst/>
            <a:cxnLst/>
            <a:rect r="r" b="b" t="t" l="l"/>
            <a:pathLst>
              <a:path h="10287000" w="10389528">
                <a:moveTo>
                  <a:pt x="0" y="0"/>
                </a:moveTo>
                <a:lnTo>
                  <a:pt x="10389528" y="0"/>
                </a:lnTo>
                <a:lnTo>
                  <a:pt x="103895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65636" y="209495"/>
            <a:ext cx="2114989" cy="2303453"/>
          </a:xfrm>
          <a:custGeom>
            <a:avLst/>
            <a:gdLst/>
            <a:ahLst/>
            <a:cxnLst/>
            <a:rect r="r" b="b" t="t" l="l"/>
            <a:pathLst>
              <a:path h="2303453" w="2114989">
                <a:moveTo>
                  <a:pt x="0" y="0"/>
                </a:moveTo>
                <a:lnTo>
                  <a:pt x="2114989" y="0"/>
                </a:lnTo>
                <a:lnTo>
                  <a:pt x="2114989" y="2303453"/>
                </a:lnTo>
                <a:lnTo>
                  <a:pt x="0" y="2303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01806" y="540049"/>
            <a:ext cx="1532773" cy="1642346"/>
          </a:xfrm>
          <a:custGeom>
            <a:avLst/>
            <a:gdLst/>
            <a:ahLst/>
            <a:cxnLst/>
            <a:rect r="r" b="b" t="t" l="l"/>
            <a:pathLst>
              <a:path h="1642346" w="1532773">
                <a:moveTo>
                  <a:pt x="0" y="0"/>
                </a:moveTo>
                <a:lnTo>
                  <a:pt x="1532773" y="0"/>
                </a:lnTo>
                <a:lnTo>
                  <a:pt x="1532773" y="1642346"/>
                </a:lnTo>
                <a:lnTo>
                  <a:pt x="0" y="16423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82323" y="7948109"/>
            <a:ext cx="1353953" cy="1705981"/>
          </a:xfrm>
          <a:custGeom>
            <a:avLst/>
            <a:gdLst/>
            <a:ahLst/>
            <a:cxnLst/>
            <a:rect r="r" b="b" t="t" l="l"/>
            <a:pathLst>
              <a:path h="1705981" w="1353953">
                <a:moveTo>
                  <a:pt x="0" y="0"/>
                </a:moveTo>
                <a:lnTo>
                  <a:pt x="1353954" y="0"/>
                </a:lnTo>
                <a:lnTo>
                  <a:pt x="1353954" y="1705982"/>
                </a:lnTo>
                <a:lnTo>
                  <a:pt x="0" y="17059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07425" y="5415446"/>
            <a:ext cx="11551015" cy="1151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885"/>
              </a:lnSpc>
            </a:pPr>
            <a:r>
              <a:rPr lang="en-US" sz="8462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REPORTE FINAL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7425" y="3787829"/>
            <a:ext cx="10553595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3100">
                <a:solidFill>
                  <a:srgbClr val="44594B"/>
                </a:solidFill>
                <a:latin typeface="TAN Mon Cheri"/>
                <a:ea typeface="TAN Mon Cheri"/>
                <a:cs typeface="TAN Mon Cheri"/>
                <a:sym typeface="TAN Mon Cheri"/>
              </a:rPr>
              <a:t>Secuencia: 6NM62                                  Equipo 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7685" y="7152133"/>
            <a:ext cx="3854153" cy="2106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282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Avila Sanchez Oswaldo Rafael</a:t>
            </a:r>
          </a:p>
          <a:p>
            <a:pPr algn="l" marL="388623" indent="-194312" lvl="1">
              <a:lnSpc>
                <a:spcPts val="282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Flores Bracho Fernando</a:t>
            </a:r>
          </a:p>
          <a:p>
            <a:pPr algn="l" marL="388623" indent="-194312" lvl="1">
              <a:lnSpc>
                <a:spcPts val="282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Flores Roa Jorge Alejandro</a:t>
            </a:r>
          </a:p>
          <a:p>
            <a:pPr algn="l" marL="388623" indent="-194312" lvl="1">
              <a:lnSpc>
                <a:spcPts val="282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García Pérez Cristofer Alexander</a:t>
            </a:r>
          </a:p>
          <a:p>
            <a:pPr algn="l" marL="388623" indent="-194312" lvl="1">
              <a:lnSpc>
                <a:spcPts val="282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Rojas Vargas Claudia Lizbeth </a:t>
            </a:r>
          </a:p>
          <a:p>
            <a:pPr algn="l" marL="388623" indent="-194312" lvl="1">
              <a:lnSpc>
                <a:spcPts val="282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Sánchez Vega Estrella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4273" y="952305"/>
            <a:ext cx="10268545" cy="236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Instituto </a:t>
            </a:r>
            <a:r>
              <a:rPr lang="en-US" sz="2000">
                <a:solidFill>
                  <a:srgbClr val="000000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Politécnico Nacional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1836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Unidad Profesional Interdisciplinaria de Ingeniería y Ciencias Sociales y Administrativas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Programa Académico: Ingeniería en Informática</a:t>
            </a:r>
          </a:p>
          <a:p>
            <a:pPr algn="l">
              <a:lnSpc>
                <a:spcPts val="205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982933" y="7938584"/>
            <a:ext cx="550574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3" indent="-205106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</a:t>
            </a:r>
            <a:r>
              <a:rPr lang="en-US" sz="1900">
                <a:solidFill>
                  <a:srgbClr val="000000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nidad de Aprendizaje: Ingeniería de pruebas</a:t>
            </a:r>
          </a:p>
          <a:p>
            <a:pPr algn="l">
              <a:lnSpc>
                <a:spcPts val="2280"/>
              </a:lnSpc>
            </a:pPr>
          </a:p>
          <a:p>
            <a:pPr algn="l" marL="410213" indent="-205106" lvl="1">
              <a:lnSpc>
                <a:spcPts val="228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Profesor Saul López Avila</a:t>
            </a:r>
          </a:p>
          <a:p>
            <a:pPr algn="l">
              <a:lnSpc>
                <a:spcPts val="228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49287" y="0"/>
            <a:ext cx="6738713" cy="6672213"/>
          </a:xfrm>
          <a:custGeom>
            <a:avLst/>
            <a:gdLst/>
            <a:ahLst/>
            <a:cxnLst/>
            <a:rect r="r" b="b" t="t" l="l"/>
            <a:pathLst>
              <a:path h="6672213" w="6738713">
                <a:moveTo>
                  <a:pt x="0" y="0"/>
                </a:moveTo>
                <a:lnTo>
                  <a:pt x="6738713" y="0"/>
                </a:lnTo>
                <a:lnTo>
                  <a:pt x="6738713" y="6672213"/>
                </a:lnTo>
                <a:lnTo>
                  <a:pt x="0" y="6672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7409" y="445323"/>
            <a:ext cx="1296685" cy="1412231"/>
          </a:xfrm>
          <a:custGeom>
            <a:avLst/>
            <a:gdLst/>
            <a:ahLst/>
            <a:cxnLst/>
            <a:rect r="r" b="b" t="t" l="l"/>
            <a:pathLst>
              <a:path h="1412231" w="1296685">
                <a:moveTo>
                  <a:pt x="0" y="0"/>
                </a:moveTo>
                <a:lnTo>
                  <a:pt x="1296685" y="0"/>
                </a:lnTo>
                <a:lnTo>
                  <a:pt x="1296685" y="1412231"/>
                </a:lnTo>
                <a:lnTo>
                  <a:pt x="0" y="1412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6593" cy="24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265361"/>
            <a:ext cx="9515041" cy="6713221"/>
            <a:chOff x="0" y="0"/>
            <a:chExt cx="2506000" cy="17681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06000" cy="1768126"/>
            </a:xfrm>
            <a:custGeom>
              <a:avLst/>
              <a:gdLst/>
              <a:ahLst/>
              <a:cxnLst/>
              <a:rect r="r" b="b" t="t" l="l"/>
              <a:pathLst>
                <a:path h="1768126" w="2506000">
                  <a:moveTo>
                    <a:pt x="2506000" y="16273"/>
                  </a:moveTo>
                  <a:lnTo>
                    <a:pt x="2506000" y="1751853"/>
                  </a:lnTo>
                  <a:cubicBezTo>
                    <a:pt x="2506000" y="1760840"/>
                    <a:pt x="2498714" y="1768126"/>
                    <a:pt x="2489727" y="1768126"/>
                  </a:cubicBezTo>
                  <a:lnTo>
                    <a:pt x="16273" y="1768126"/>
                  </a:lnTo>
                  <a:cubicBezTo>
                    <a:pt x="11957" y="1768126"/>
                    <a:pt x="7818" y="1766411"/>
                    <a:pt x="4766" y="1763360"/>
                  </a:cubicBezTo>
                  <a:cubicBezTo>
                    <a:pt x="1714" y="1760308"/>
                    <a:pt x="0" y="1756169"/>
                    <a:pt x="0" y="1751853"/>
                  </a:cubicBezTo>
                  <a:lnTo>
                    <a:pt x="0" y="16273"/>
                  </a:lnTo>
                  <a:cubicBezTo>
                    <a:pt x="0" y="7286"/>
                    <a:pt x="7286" y="0"/>
                    <a:pt x="16273" y="0"/>
                  </a:cubicBezTo>
                  <a:lnTo>
                    <a:pt x="2489727" y="0"/>
                  </a:lnTo>
                  <a:cubicBezTo>
                    <a:pt x="2498714" y="0"/>
                    <a:pt x="2506000" y="7286"/>
                    <a:pt x="2506000" y="1627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06000" cy="180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066930" y="3336106"/>
            <a:ext cx="6397429" cy="4008166"/>
            <a:chOff x="0" y="0"/>
            <a:chExt cx="1808388" cy="11330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08388" cy="1133005"/>
            </a:xfrm>
            <a:custGeom>
              <a:avLst/>
              <a:gdLst/>
              <a:ahLst/>
              <a:cxnLst/>
              <a:rect r="r" b="b" t="t" l="l"/>
              <a:pathLst>
                <a:path h="1133005" w="1808388">
                  <a:moveTo>
                    <a:pt x="27834" y="0"/>
                  </a:moveTo>
                  <a:lnTo>
                    <a:pt x="1780554" y="0"/>
                  </a:lnTo>
                  <a:cubicBezTo>
                    <a:pt x="1795926" y="0"/>
                    <a:pt x="1808388" y="12462"/>
                    <a:pt x="1808388" y="27834"/>
                  </a:cubicBezTo>
                  <a:lnTo>
                    <a:pt x="1808388" y="1105171"/>
                  </a:lnTo>
                  <a:cubicBezTo>
                    <a:pt x="1808388" y="1112553"/>
                    <a:pt x="1805455" y="1119633"/>
                    <a:pt x="1800235" y="1124853"/>
                  </a:cubicBezTo>
                  <a:cubicBezTo>
                    <a:pt x="1795016" y="1130072"/>
                    <a:pt x="1787936" y="1133005"/>
                    <a:pt x="1780554" y="1133005"/>
                  </a:cubicBezTo>
                  <a:lnTo>
                    <a:pt x="27834" y="1133005"/>
                  </a:lnTo>
                  <a:cubicBezTo>
                    <a:pt x="12462" y="1133005"/>
                    <a:pt x="0" y="1120543"/>
                    <a:pt x="0" y="1105171"/>
                  </a:cubicBezTo>
                  <a:lnTo>
                    <a:pt x="0" y="27834"/>
                  </a:lnTo>
                  <a:cubicBezTo>
                    <a:pt x="0" y="12462"/>
                    <a:pt x="12462" y="0"/>
                    <a:pt x="27834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303" r="0" b="-1303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06267" y="2466975"/>
            <a:ext cx="8685190" cy="643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Este informe detalla el proceso de aseguramiento de calidad (QA) implementado en el sistema Papelería GO-MI, un software de escritorio creado por el Equipo 5 del IPN utilizando Python, Flet y MySQL para la automatización de las operaciones de una papelería local. El Equipo 4 realizó pruebas funcionales y no funcionales en tres ciclos (C1, C2 y C3) empleando herramientas como GitHub Issues para registro de incidencias, Selenium para pruebas de automatización y Locust para la prueba de carga y estrés. El objetivo de estas pruebas era determinar la calidad del sistema, registrar incidencias y emitir un juicio sobre su aptitud para ser liberado en un entorno productivo.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1061" y="1133475"/>
            <a:ext cx="945560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0"/>
              </a:lnSpc>
            </a:pPr>
            <a:r>
              <a:rPr lang="en-US" sz="70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INTRODUCCIÓN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3250" y="33250"/>
            <a:ext cx="6738713" cy="6672213"/>
          </a:xfrm>
          <a:custGeom>
            <a:avLst/>
            <a:gdLst/>
            <a:ahLst/>
            <a:cxnLst/>
            <a:rect r="r" b="b" t="t" l="l"/>
            <a:pathLst>
              <a:path h="6672213" w="6738713">
                <a:moveTo>
                  <a:pt x="0" y="0"/>
                </a:moveTo>
                <a:lnTo>
                  <a:pt x="6738713" y="0"/>
                </a:lnTo>
                <a:lnTo>
                  <a:pt x="6738713" y="6672213"/>
                </a:lnTo>
                <a:lnTo>
                  <a:pt x="0" y="6672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816593" cy="24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49382" y="2447925"/>
            <a:ext cx="11599809" cy="5756279"/>
            <a:chOff x="0" y="0"/>
            <a:chExt cx="3055070" cy="15160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55070" cy="1516087"/>
            </a:xfrm>
            <a:custGeom>
              <a:avLst/>
              <a:gdLst/>
              <a:ahLst/>
              <a:cxnLst/>
              <a:rect r="r" b="b" t="t" l="l"/>
              <a:pathLst>
                <a:path h="1516087" w="3055070">
                  <a:moveTo>
                    <a:pt x="3055070" y="13348"/>
                  </a:moveTo>
                  <a:lnTo>
                    <a:pt x="3055070" y="1502738"/>
                  </a:lnTo>
                  <a:cubicBezTo>
                    <a:pt x="3055070" y="1510110"/>
                    <a:pt x="3049094" y="1516087"/>
                    <a:pt x="3041722" y="1516087"/>
                  </a:cubicBezTo>
                  <a:lnTo>
                    <a:pt x="13348" y="1516087"/>
                  </a:lnTo>
                  <a:cubicBezTo>
                    <a:pt x="5976" y="1516087"/>
                    <a:pt x="0" y="1510110"/>
                    <a:pt x="0" y="1502738"/>
                  </a:cubicBezTo>
                  <a:lnTo>
                    <a:pt x="0" y="13348"/>
                  </a:lnTo>
                  <a:cubicBezTo>
                    <a:pt x="0" y="5976"/>
                    <a:pt x="5976" y="0"/>
                    <a:pt x="13348" y="0"/>
                  </a:cubicBezTo>
                  <a:lnTo>
                    <a:pt x="3041722" y="0"/>
                  </a:lnTo>
                  <a:cubicBezTo>
                    <a:pt x="3049094" y="0"/>
                    <a:pt x="3055070" y="5976"/>
                    <a:pt x="3055070" y="1334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55070" cy="1554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447925"/>
            <a:ext cx="4129465" cy="5756279"/>
            <a:chOff x="0" y="0"/>
            <a:chExt cx="812800" cy="11330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133005"/>
            </a:xfrm>
            <a:custGeom>
              <a:avLst/>
              <a:gdLst/>
              <a:ahLst/>
              <a:cxnLst/>
              <a:rect r="r" b="b" t="t" l="l"/>
              <a:pathLst>
                <a:path h="1133005" w="812800">
                  <a:moveTo>
                    <a:pt x="43120" y="0"/>
                  </a:moveTo>
                  <a:lnTo>
                    <a:pt x="769680" y="0"/>
                  </a:lnTo>
                  <a:cubicBezTo>
                    <a:pt x="793494" y="0"/>
                    <a:pt x="812800" y="19306"/>
                    <a:pt x="812800" y="43120"/>
                  </a:cubicBezTo>
                  <a:lnTo>
                    <a:pt x="812800" y="1089884"/>
                  </a:lnTo>
                  <a:cubicBezTo>
                    <a:pt x="812800" y="1113699"/>
                    <a:pt x="793494" y="1133005"/>
                    <a:pt x="769680" y="1133005"/>
                  </a:cubicBezTo>
                  <a:lnTo>
                    <a:pt x="43120" y="1133005"/>
                  </a:lnTo>
                  <a:cubicBezTo>
                    <a:pt x="19306" y="1133005"/>
                    <a:pt x="0" y="1113699"/>
                    <a:pt x="0" y="1089884"/>
                  </a:cubicBezTo>
                  <a:lnTo>
                    <a:pt x="0" y="43120"/>
                  </a:lnTo>
                  <a:cubicBezTo>
                    <a:pt x="0" y="19306"/>
                    <a:pt x="19306" y="0"/>
                    <a:pt x="43120" y="0"/>
                  </a:cubicBezTo>
                  <a:close/>
                </a:path>
              </a:pathLst>
            </a:custGeom>
            <a:blipFill>
              <a:blip r:embed="rId4"/>
              <a:stretch>
                <a:fillRect l="-89395" t="0" r="-89395" b="0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7286410" y="1133475"/>
            <a:ext cx="945560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0"/>
              </a:lnSpc>
            </a:pPr>
            <a:r>
              <a:rPr lang="en-US" sz="70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PROBLEMÁTICA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80358" y="322585"/>
            <a:ext cx="1296685" cy="1412231"/>
          </a:xfrm>
          <a:custGeom>
            <a:avLst/>
            <a:gdLst/>
            <a:ahLst/>
            <a:cxnLst/>
            <a:rect r="r" b="b" t="t" l="l"/>
            <a:pathLst>
              <a:path h="1412231" w="1296685">
                <a:moveTo>
                  <a:pt x="0" y="0"/>
                </a:moveTo>
                <a:lnTo>
                  <a:pt x="1296684" y="0"/>
                </a:lnTo>
                <a:lnTo>
                  <a:pt x="1296684" y="1412230"/>
                </a:lnTo>
                <a:lnTo>
                  <a:pt x="0" y="14122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134069" y="2798607"/>
            <a:ext cx="10872487" cy="483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El proyecto aborda una papelería que gestiona manualmente su inventario y ventas con cuadernos de papel, lo que genera errores en el stock, pérdida de tiempo en cálculos de ganancias, dificultad para identificar productos de alta demanda o bajo inventario, y ausencia de reportes estratégicos, afectando su competitividad y eficiencia operativa. Por ello, se requiere implementar un sistema de gestión integral que automatice el control de inventario, registro de ventas, generación de reportes y administración de sugerencias, asegurando precisión, rapidez e información en tiempo real, con roles diferenciados para garantizar seguridad y facilidad de uso.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5394525"/>
            <a:ext cx="18288000" cy="4892475"/>
            <a:chOff x="0" y="0"/>
            <a:chExt cx="4816593" cy="12885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288553"/>
            </a:xfrm>
            <a:custGeom>
              <a:avLst/>
              <a:gdLst/>
              <a:ahLst/>
              <a:cxnLst/>
              <a:rect r="r" b="b" t="t" l="l"/>
              <a:pathLst>
                <a:path h="12885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88553"/>
                  </a:lnTo>
                  <a:lnTo>
                    <a:pt x="0" y="128855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816593" cy="1259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110073" y="5652942"/>
            <a:ext cx="6315882" cy="3916222"/>
            <a:chOff x="0" y="0"/>
            <a:chExt cx="1930302" cy="11969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0302" cy="1196935"/>
            </a:xfrm>
            <a:custGeom>
              <a:avLst/>
              <a:gdLst/>
              <a:ahLst/>
              <a:cxnLst/>
              <a:rect r="r" b="b" t="t" l="l"/>
              <a:pathLst>
                <a:path h="1196935" w="1930302">
                  <a:moveTo>
                    <a:pt x="1930302" y="24516"/>
                  </a:moveTo>
                  <a:lnTo>
                    <a:pt x="1930302" y="1172419"/>
                  </a:lnTo>
                  <a:cubicBezTo>
                    <a:pt x="1930302" y="1185959"/>
                    <a:pt x="1919326" y="1196935"/>
                    <a:pt x="1905786" y="1196935"/>
                  </a:cubicBezTo>
                  <a:lnTo>
                    <a:pt x="24516" y="1196935"/>
                  </a:lnTo>
                  <a:cubicBezTo>
                    <a:pt x="18014" y="1196935"/>
                    <a:pt x="11778" y="1194352"/>
                    <a:pt x="7180" y="1189754"/>
                  </a:cubicBezTo>
                  <a:cubicBezTo>
                    <a:pt x="2583" y="1185157"/>
                    <a:pt x="0" y="1178921"/>
                    <a:pt x="0" y="1172419"/>
                  </a:cubicBezTo>
                  <a:lnTo>
                    <a:pt x="0" y="24516"/>
                  </a:lnTo>
                  <a:cubicBezTo>
                    <a:pt x="0" y="10976"/>
                    <a:pt x="10976" y="0"/>
                    <a:pt x="24516" y="0"/>
                  </a:cubicBezTo>
                  <a:lnTo>
                    <a:pt x="1905786" y="0"/>
                  </a:lnTo>
                  <a:cubicBezTo>
                    <a:pt x="1919326" y="0"/>
                    <a:pt x="1930302" y="10976"/>
                    <a:pt x="1930302" y="2451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30302" cy="1235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44405" y="1204733"/>
            <a:ext cx="6187591" cy="1864541"/>
            <a:chOff x="0" y="0"/>
            <a:chExt cx="1629641" cy="4910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29641" cy="491082"/>
            </a:xfrm>
            <a:custGeom>
              <a:avLst/>
              <a:gdLst/>
              <a:ahLst/>
              <a:cxnLst/>
              <a:rect r="r" b="b" t="t" l="l"/>
              <a:pathLst>
                <a:path h="491082" w="1629641">
                  <a:moveTo>
                    <a:pt x="1629641" y="25024"/>
                  </a:moveTo>
                  <a:lnTo>
                    <a:pt x="1629641" y="466058"/>
                  </a:lnTo>
                  <a:cubicBezTo>
                    <a:pt x="1629641" y="472695"/>
                    <a:pt x="1627005" y="479060"/>
                    <a:pt x="1622312" y="483753"/>
                  </a:cubicBezTo>
                  <a:cubicBezTo>
                    <a:pt x="1617619" y="488446"/>
                    <a:pt x="1611254" y="491082"/>
                    <a:pt x="1604617" y="491082"/>
                  </a:cubicBezTo>
                  <a:lnTo>
                    <a:pt x="25024" y="491082"/>
                  </a:lnTo>
                  <a:cubicBezTo>
                    <a:pt x="11204" y="491082"/>
                    <a:pt x="0" y="479879"/>
                    <a:pt x="0" y="466058"/>
                  </a:cubicBezTo>
                  <a:lnTo>
                    <a:pt x="0" y="25024"/>
                  </a:lnTo>
                  <a:cubicBezTo>
                    <a:pt x="0" y="11204"/>
                    <a:pt x="11204" y="0"/>
                    <a:pt x="25024" y="0"/>
                  </a:cubicBezTo>
                  <a:lnTo>
                    <a:pt x="1604617" y="0"/>
                  </a:lnTo>
                  <a:cubicBezTo>
                    <a:pt x="1611254" y="0"/>
                    <a:pt x="1617619" y="2636"/>
                    <a:pt x="1622312" y="7329"/>
                  </a:cubicBezTo>
                  <a:cubicBezTo>
                    <a:pt x="1627005" y="12022"/>
                    <a:pt x="1629641" y="18387"/>
                    <a:pt x="1629641" y="2502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29641" cy="529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03673" y="1608049"/>
            <a:ext cx="7139448" cy="95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44594B"/>
                </a:solidFill>
                <a:latin typeface="TAN Mon Cheri"/>
                <a:ea typeface="TAN Mon Cheri"/>
                <a:cs typeface="TAN Mon Cheri"/>
                <a:sym typeface="TAN Mon Cheri"/>
              </a:rPr>
              <a:t>TECNOLOGÍAS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04663" y="5705965"/>
            <a:ext cx="5748721" cy="4034909"/>
            <a:chOff x="0" y="0"/>
            <a:chExt cx="1756962" cy="12332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56963" cy="1233209"/>
            </a:xfrm>
            <a:custGeom>
              <a:avLst/>
              <a:gdLst/>
              <a:ahLst/>
              <a:cxnLst/>
              <a:rect r="r" b="b" t="t" l="l"/>
              <a:pathLst>
                <a:path h="1233209" w="1756963">
                  <a:moveTo>
                    <a:pt x="1756963" y="26934"/>
                  </a:moveTo>
                  <a:lnTo>
                    <a:pt x="1756963" y="1206275"/>
                  </a:lnTo>
                  <a:cubicBezTo>
                    <a:pt x="1756963" y="1221150"/>
                    <a:pt x="1744904" y="1233209"/>
                    <a:pt x="1730028" y="1233209"/>
                  </a:cubicBezTo>
                  <a:lnTo>
                    <a:pt x="26934" y="1233209"/>
                  </a:lnTo>
                  <a:cubicBezTo>
                    <a:pt x="12059" y="1233209"/>
                    <a:pt x="0" y="1221150"/>
                    <a:pt x="0" y="1206275"/>
                  </a:cubicBezTo>
                  <a:lnTo>
                    <a:pt x="0" y="26934"/>
                  </a:lnTo>
                  <a:cubicBezTo>
                    <a:pt x="0" y="12059"/>
                    <a:pt x="12059" y="0"/>
                    <a:pt x="26934" y="0"/>
                  </a:cubicBezTo>
                  <a:lnTo>
                    <a:pt x="1730028" y="0"/>
                  </a:lnTo>
                  <a:cubicBezTo>
                    <a:pt x="1744904" y="0"/>
                    <a:pt x="1756963" y="12059"/>
                    <a:pt x="1756963" y="2693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56962" cy="1271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33476" y="1407388"/>
            <a:ext cx="5898520" cy="161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172"/>
              </a:lnSpc>
              <a:buFont typeface="Arial"/>
              <a:buChar char="•"/>
            </a:pPr>
            <a:r>
              <a:rPr lang="en-US" sz="26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Py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h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on 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3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.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10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+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F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 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(UI)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.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</a:p>
          <a:p>
            <a:pPr algn="just" marL="561341" indent="-280670" lvl="1">
              <a:lnSpc>
                <a:spcPts val="3172"/>
              </a:lnSpc>
              <a:buFont typeface="Arial"/>
              <a:buChar char="•"/>
            </a:pP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MySql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(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mace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amie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nt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 lo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ca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)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.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</a:p>
          <a:p>
            <a:pPr algn="just" marL="561341" indent="-280670" lvl="1">
              <a:lnSpc>
                <a:spcPts val="3172"/>
              </a:lnSpc>
              <a:buFont typeface="Arial"/>
              <a:buChar char="•"/>
            </a:pP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ithu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b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(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on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rol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 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v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ersi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es)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.</a:t>
            </a:r>
            <a:r>
              <a:rPr lang="en-US" sz="26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</a:p>
          <a:p>
            <a:pPr algn="just">
              <a:lnSpc>
                <a:spcPts val="3172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121316" y="5902612"/>
            <a:ext cx="3958957" cy="363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0942" indent="-260471" lvl="1">
              <a:lnSpc>
                <a:spcPts val="2871"/>
              </a:lnSpc>
              <a:buFont typeface="Arial"/>
              <a:buChar char="•"/>
            </a:pPr>
            <a:r>
              <a:rPr lang="en-US" sz="2412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Inic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 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si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ón</a:t>
            </a:r>
          </a:p>
          <a:p>
            <a:pPr algn="just" marL="520942" indent="-260471" lvl="1">
              <a:lnSpc>
                <a:spcPts val="2871"/>
              </a:lnSpc>
              <a:buFont typeface="Arial"/>
              <a:buChar char="•"/>
            </a:pP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nel d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 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ont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rol</a:t>
            </a:r>
          </a:p>
          <a:p>
            <a:pPr algn="just" marL="520942" indent="-260471" lvl="1">
              <a:lnSpc>
                <a:spcPts val="2871"/>
              </a:lnSpc>
              <a:buFont typeface="Arial"/>
              <a:buChar char="•"/>
            </a:pP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ti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ó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 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 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mpl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ados</a:t>
            </a:r>
          </a:p>
          <a:p>
            <a:pPr algn="just" marL="520942" indent="-260471" lvl="1">
              <a:lnSpc>
                <a:spcPts val="2871"/>
              </a:lnSpc>
              <a:buFont typeface="Arial"/>
              <a:buChar char="•"/>
            </a:pP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lta 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em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plead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</a:p>
          <a:p>
            <a:pPr algn="just" marL="520942" indent="-260471" lvl="1">
              <a:lnSpc>
                <a:spcPts val="2871"/>
              </a:lnSpc>
              <a:buFont typeface="Arial"/>
              <a:buChar char="•"/>
            </a:pP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Baja 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pl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ado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</a:p>
          <a:p>
            <a:pPr algn="just" marL="520942" indent="-260471" lvl="1">
              <a:lnSpc>
                <a:spcPts val="2871"/>
              </a:lnSpc>
              <a:buFont typeface="Arial"/>
              <a:buChar char="•"/>
            </a:pP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Edi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ci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ó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 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mp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ea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</a:p>
          <a:p>
            <a:pPr algn="just" marL="520942" indent="-260471" lvl="1">
              <a:lnSpc>
                <a:spcPts val="2871"/>
              </a:lnSpc>
              <a:buFont typeface="Arial"/>
              <a:buChar char="•"/>
            </a:pP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ón de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pr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od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cto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</a:p>
          <a:p>
            <a:pPr algn="just" marL="520942" indent="-260471" lvl="1">
              <a:lnSpc>
                <a:spcPts val="2871"/>
              </a:lnSpc>
              <a:buFont typeface="Arial"/>
              <a:buChar char="•"/>
            </a:pP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Agr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ega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produc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to</a:t>
            </a:r>
          </a:p>
          <a:p>
            <a:pPr algn="just" marL="520942" indent="-260471" lvl="1">
              <a:lnSpc>
                <a:spcPts val="2871"/>
              </a:lnSpc>
              <a:buFont typeface="Arial"/>
              <a:buChar char="•"/>
            </a:pP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lim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in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pr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od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uct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</a:p>
          <a:p>
            <a:pPr algn="just" marL="520942" indent="-260471" lvl="1">
              <a:lnSpc>
                <a:spcPts val="2871"/>
              </a:lnSpc>
              <a:buFont typeface="Arial"/>
              <a:buChar char="•"/>
            </a:pP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gis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tra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sug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er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ci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8311" y="4207829"/>
            <a:ext cx="7139448" cy="960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80"/>
              </a:lnSpc>
              <a:spcBef>
                <a:spcPct val="0"/>
              </a:spcBef>
            </a:pPr>
            <a:r>
              <a:rPr lang="en-US" sz="57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MÓDULOS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49762" y="4198304"/>
            <a:ext cx="9036503" cy="86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44594B"/>
                </a:solidFill>
                <a:latin typeface="TAN Mon Cheri"/>
                <a:ea typeface="TAN Mon Cheri"/>
                <a:cs typeface="TAN Mon Cheri"/>
                <a:sym typeface="TAN Mon Cheri"/>
              </a:rPr>
              <a:t>FUNCIONALIDADES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88901" y="5829380"/>
            <a:ext cx="5758226" cy="352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942" indent="-260471" lvl="1">
              <a:lnSpc>
                <a:spcPts val="3112"/>
              </a:lnSpc>
              <a:buAutoNum type="arabicPeriod" startAt="1"/>
            </a:pPr>
            <a:r>
              <a:rPr lang="en-US" sz="2412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Gestionar efic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ientemente 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 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in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ventario</a:t>
            </a:r>
          </a:p>
          <a:p>
            <a:pPr algn="l" marL="520942" indent="-260471" lvl="1">
              <a:lnSpc>
                <a:spcPts val="3112"/>
              </a:lnSpc>
              <a:buAutoNum type="arabicPeriod" startAt="1"/>
            </a:pP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tomatizar el proceso de ventas    </a:t>
            </a:r>
          </a:p>
          <a:p>
            <a:pPr algn="l" marL="520942" indent="-260471" lvl="1">
              <a:lnSpc>
                <a:spcPts val="3112"/>
              </a:lnSpc>
              <a:buAutoNum type="arabicPeriod" startAt="1"/>
            </a:pP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Automatizar 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proc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eso de sugerencia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 product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os</a:t>
            </a:r>
          </a:p>
          <a:p>
            <a:pPr algn="l" marL="520942" indent="-260471" lvl="1">
              <a:lnSpc>
                <a:spcPts val="3112"/>
              </a:lnSpc>
              <a:buAutoNum type="arabicPeriod" startAt="1"/>
            </a:pP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nerar reporte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y análisis estrat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ég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icos</a:t>
            </a:r>
          </a:p>
          <a:p>
            <a:pPr algn="l" marL="520942" indent="-260471" lvl="1">
              <a:lnSpc>
                <a:spcPts val="3112"/>
              </a:lnSpc>
              <a:buAutoNum type="arabicPeriod" startAt="1"/>
            </a:pP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Garantizar accesibi</a:t>
            </a:r>
            <a:r>
              <a:rPr lang="en-US" sz="2412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lidad y seguridad de los datos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997671" y="2901763"/>
            <a:ext cx="18288000" cy="9995342"/>
            <a:chOff x="0" y="0"/>
            <a:chExt cx="4816593" cy="2632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632518"/>
            </a:xfrm>
            <a:custGeom>
              <a:avLst/>
              <a:gdLst/>
              <a:ahLst/>
              <a:cxnLst/>
              <a:rect r="r" b="b" t="t" l="l"/>
              <a:pathLst>
                <a:path h="263251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32518"/>
                  </a:lnTo>
                  <a:lnTo>
                    <a:pt x="0" y="2632518"/>
                  </a:lnTo>
                  <a:close/>
                </a:path>
              </a:pathLst>
            </a:custGeom>
            <a:solidFill>
              <a:srgbClr val="889E90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816593" cy="2603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38374" y="2423221"/>
            <a:ext cx="5283536" cy="7331330"/>
          </a:xfrm>
          <a:custGeom>
            <a:avLst/>
            <a:gdLst/>
            <a:ahLst/>
            <a:cxnLst/>
            <a:rect r="r" b="b" t="t" l="l"/>
            <a:pathLst>
              <a:path h="7331330" w="5283536">
                <a:moveTo>
                  <a:pt x="0" y="0"/>
                </a:moveTo>
                <a:lnTo>
                  <a:pt x="5283536" y="0"/>
                </a:lnTo>
                <a:lnTo>
                  <a:pt x="5283536" y="7331330"/>
                </a:lnTo>
                <a:lnTo>
                  <a:pt x="0" y="7331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14605" y="2423221"/>
            <a:ext cx="5633530" cy="7233585"/>
          </a:xfrm>
          <a:custGeom>
            <a:avLst/>
            <a:gdLst/>
            <a:ahLst/>
            <a:cxnLst/>
            <a:rect r="r" b="b" t="t" l="l"/>
            <a:pathLst>
              <a:path h="7233585" w="5633530">
                <a:moveTo>
                  <a:pt x="0" y="0"/>
                </a:moveTo>
                <a:lnTo>
                  <a:pt x="5633530" y="0"/>
                </a:lnTo>
                <a:lnTo>
                  <a:pt x="5633530" y="7233585"/>
                </a:lnTo>
                <a:lnTo>
                  <a:pt x="0" y="7233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2627" y="501015"/>
            <a:ext cx="8821373" cy="960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80"/>
              </a:lnSpc>
              <a:spcBef>
                <a:spcPct val="0"/>
              </a:spcBef>
            </a:pPr>
            <a:r>
              <a:rPr lang="en-US" sz="57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DOCUMENTACIÓN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5257" y="1768370"/>
            <a:ext cx="6069770" cy="50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44594B"/>
                </a:solidFill>
                <a:latin typeface="TAN Mon Cheri"/>
                <a:ea typeface="TAN Mon Cheri"/>
                <a:cs typeface="TAN Mon Cheri"/>
                <a:sym typeface="TAN Mon Cheri"/>
              </a:rPr>
              <a:t>DICCIONARIO DE DATOS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72974" y="1768370"/>
            <a:ext cx="6069770" cy="50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5"/>
              </a:lnSpc>
              <a:spcBef>
                <a:spcPct val="0"/>
              </a:spcBef>
            </a:pPr>
            <a:r>
              <a:rPr lang="en-US" sz="2918">
                <a:solidFill>
                  <a:srgbClr val="FFFFFF"/>
                </a:solidFill>
                <a:latin typeface="TAN Mon Cheri"/>
                <a:ea typeface="TAN Mon Cheri"/>
                <a:cs typeface="TAN Mon Cheri"/>
                <a:sym typeface="TAN Mon Cheri"/>
              </a:rPr>
              <a:t>CASOS DE USO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816593" cy="24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736032" y="0"/>
            <a:ext cx="1520289" cy="1655761"/>
          </a:xfrm>
          <a:custGeom>
            <a:avLst/>
            <a:gdLst/>
            <a:ahLst/>
            <a:cxnLst/>
            <a:rect r="r" b="b" t="t" l="l"/>
            <a:pathLst>
              <a:path h="1655761" w="1520289">
                <a:moveTo>
                  <a:pt x="0" y="0"/>
                </a:moveTo>
                <a:lnTo>
                  <a:pt x="1520289" y="0"/>
                </a:lnTo>
                <a:lnTo>
                  <a:pt x="1520289" y="1655761"/>
                </a:lnTo>
                <a:lnTo>
                  <a:pt x="0" y="16557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1520289" cy="1655761"/>
          </a:xfrm>
          <a:custGeom>
            <a:avLst/>
            <a:gdLst/>
            <a:ahLst/>
            <a:cxnLst/>
            <a:rect r="r" b="b" t="t" l="l"/>
            <a:pathLst>
              <a:path h="1655761" w="1520289">
                <a:moveTo>
                  <a:pt x="0" y="0"/>
                </a:moveTo>
                <a:lnTo>
                  <a:pt x="1520289" y="0"/>
                </a:lnTo>
                <a:lnTo>
                  <a:pt x="1520289" y="1655761"/>
                </a:lnTo>
                <a:lnTo>
                  <a:pt x="0" y="16557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2073" y="3438227"/>
            <a:ext cx="3527673" cy="2274728"/>
          </a:xfrm>
          <a:custGeom>
            <a:avLst/>
            <a:gdLst/>
            <a:ahLst/>
            <a:cxnLst/>
            <a:rect r="r" b="b" t="t" l="l"/>
            <a:pathLst>
              <a:path h="2274728" w="3527673">
                <a:moveTo>
                  <a:pt x="0" y="0"/>
                </a:moveTo>
                <a:lnTo>
                  <a:pt x="3527673" y="0"/>
                </a:lnTo>
                <a:lnTo>
                  <a:pt x="3527673" y="2274728"/>
                </a:lnTo>
                <a:lnTo>
                  <a:pt x="0" y="2274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317" t="0" r="-7317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35685" y="3717742"/>
            <a:ext cx="1899982" cy="2274728"/>
          </a:xfrm>
          <a:custGeom>
            <a:avLst/>
            <a:gdLst/>
            <a:ahLst/>
            <a:cxnLst/>
            <a:rect r="r" b="b" t="t" l="l"/>
            <a:pathLst>
              <a:path h="2274728" w="1899982">
                <a:moveTo>
                  <a:pt x="0" y="0"/>
                </a:moveTo>
                <a:lnTo>
                  <a:pt x="1899982" y="0"/>
                </a:lnTo>
                <a:lnTo>
                  <a:pt x="1899982" y="2274728"/>
                </a:lnTo>
                <a:lnTo>
                  <a:pt x="0" y="22747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317" t="0" r="-7317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11355" y="3717742"/>
            <a:ext cx="1977234" cy="2266610"/>
          </a:xfrm>
          <a:custGeom>
            <a:avLst/>
            <a:gdLst/>
            <a:ahLst/>
            <a:cxnLst/>
            <a:rect r="r" b="b" t="t" l="l"/>
            <a:pathLst>
              <a:path h="2266610" w="1977234">
                <a:moveTo>
                  <a:pt x="0" y="0"/>
                </a:moveTo>
                <a:lnTo>
                  <a:pt x="1977234" y="0"/>
                </a:lnTo>
                <a:lnTo>
                  <a:pt x="1977234" y="2266610"/>
                </a:lnTo>
                <a:lnTo>
                  <a:pt x="0" y="22666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317" t="0" r="-7317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92073" y="6201241"/>
            <a:ext cx="3527673" cy="1788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6"/>
              </a:lnSpc>
            </a:pPr>
            <a:r>
              <a:rPr lang="en-US" sz="2234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ent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liza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cont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rol 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 er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rores y 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tare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as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en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el mismo luga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 d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onde vive tu c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ódig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o, fac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ilit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and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 el tr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bajo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en 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equipo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sin usar apps ext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erna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99894" y="1284286"/>
            <a:ext cx="13688213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sz="60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HERRAMIENTAS UTILIZADAS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8986" y="2949258"/>
            <a:ext cx="4810914" cy="48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GITHUB ISSUES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91101" y="6480756"/>
            <a:ext cx="3789151" cy="150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1"/>
              </a:lnSpc>
            </a:pPr>
            <a:r>
              <a:rPr lang="en-US" sz="2229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Au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om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tiza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 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av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gad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or p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pr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ob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ar que los flujos r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ales  func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onen perfec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me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nt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e, t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como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lo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harí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 un 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usuario.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15734" y="2990648"/>
            <a:ext cx="3956501" cy="48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SELENIUM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21722" y="6480756"/>
            <a:ext cx="3789151" cy="150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1"/>
              </a:lnSpc>
            </a:pPr>
            <a:r>
              <a:rPr lang="en-US" sz="2229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ermite 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simula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 mi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de usua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ios conc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urre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nt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es us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có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igo Python simpl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e, 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ideal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para ver cuánt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 presión ag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anta tu </a:t>
            </a:r>
            <a:r>
              <a:rPr lang="en-US" sz="2229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sistema.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30031" y="2981123"/>
            <a:ext cx="3956501" cy="48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LOCUST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621036" y="4259268"/>
            <a:ext cx="3814037" cy="2076227"/>
          </a:xfrm>
          <a:custGeom>
            <a:avLst/>
            <a:gdLst/>
            <a:ahLst/>
            <a:cxnLst/>
            <a:rect r="r" b="b" t="t" l="l"/>
            <a:pathLst>
              <a:path h="2076227" w="3814037">
                <a:moveTo>
                  <a:pt x="0" y="0"/>
                </a:moveTo>
                <a:lnTo>
                  <a:pt x="3814037" y="0"/>
                </a:lnTo>
                <a:lnTo>
                  <a:pt x="3814037" y="2076227"/>
                </a:lnTo>
                <a:lnTo>
                  <a:pt x="0" y="20762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793438" y="6639280"/>
            <a:ext cx="3527673" cy="120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6"/>
              </a:lnSpc>
            </a:pPr>
            <a:r>
              <a:rPr lang="en-US" sz="2234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y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ud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 a generar 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cas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os de prueba automáti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amente 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mien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tras na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v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egas po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una aplicación we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b</a:t>
            </a:r>
            <a:r>
              <a:rPr lang="en-US" sz="2234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97550" y="2952437"/>
            <a:ext cx="4061009" cy="96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TESTCASE STUDIO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93438" y="8147658"/>
            <a:ext cx="3527673" cy="3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</a:pPr>
            <a:r>
              <a:rPr lang="en-US" sz="2234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(Prueba)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459562"/>
            <a:ext cx="18288000" cy="955945"/>
            <a:chOff x="0" y="0"/>
            <a:chExt cx="4816593" cy="2517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51771"/>
            </a:xfrm>
            <a:custGeom>
              <a:avLst/>
              <a:gdLst/>
              <a:ahLst/>
              <a:cxnLst/>
              <a:rect r="r" b="b" t="t" l="l"/>
              <a:pathLst>
                <a:path h="251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51771"/>
                  </a:lnTo>
                  <a:lnTo>
                    <a:pt x="0" y="251771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816593" cy="223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38155" y="7797852"/>
            <a:ext cx="1749845" cy="1905771"/>
          </a:xfrm>
          <a:custGeom>
            <a:avLst/>
            <a:gdLst/>
            <a:ahLst/>
            <a:cxnLst/>
            <a:rect r="r" b="b" t="t" l="l"/>
            <a:pathLst>
              <a:path h="1905771" w="1749845">
                <a:moveTo>
                  <a:pt x="0" y="0"/>
                </a:moveTo>
                <a:lnTo>
                  <a:pt x="1749845" y="0"/>
                </a:lnTo>
                <a:lnTo>
                  <a:pt x="1749845" y="1905771"/>
                </a:lnTo>
                <a:lnTo>
                  <a:pt x="0" y="1905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4816593" cy="24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2792" y="2828544"/>
            <a:ext cx="9108495" cy="4523985"/>
            <a:chOff x="0" y="0"/>
            <a:chExt cx="3369999" cy="1673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69999" cy="1673848"/>
            </a:xfrm>
            <a:custGeom>
              <a:avLst/>
              <a:gdLst/>
              <a:ahLst/>
              <a:cxnLst/>
              <a:rect r="r" b="b" t="t" l="l"/>
              <a:pathLst>
                <a:path h="1673848" w="3369999">
                  <a:moveTo>
                    <a:pt x="3369999" y="16999"/>
                  </a:moveTo>
                  <a:lnTo>
                    <a:pt x="3369999" y="1656849"/>
                  </a:lnTo>
                  <a:cubicBezTo>
                    <a:pt x="3369999" y="1666238"/>
                    <a:pt x="3362388" y="1673848"/>
                    <a:pt x="3353000" y="1673848"/>
                  </a:cubicBezTo>
                  <a:lnTo>
                    <a:pt x="16999" y="1673848"/>
                  </a:lnTo>
                  <a:cubicBezTo>
                    <a:pt x="7611" y="1673848"/>
                    <a:pt x="0" y="1666238"/>
                    <a:pt x="0" y="1656849"/>
                  </a:cubicBezTo>
                  <a:lnTo>
                    <a:pt x="0" y="16999"/>
                  </a:lnTo>
                  <a:cubicBezTo>
                    <a:pt x="0" y="7611"/>
                    <a:pt x="7611" y="0"/>
                    <a:pt x="16999" y="0"/>
                  </a:cubicBezTo>
                  <a:lnTo>
                    <a:pt x="3353000" y="0"/>
                  </a:lnTo>
                  <a:cubicBezTo>
                    <a:pt x="3357508" y="0"/>
                    <a:pt x="3361832" y="1791"/>
                    <a:pt x="3365020" y="4979"/>
                  </a:cubicBezTo>
                  <a:cubicBezTo>
                    <a:pt x="3368208" y="8167"/>
                    <a:pt x="3369999" y="12491"/>
                    <a:pt x="3369999" y="1699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369999" cy="1711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0" y="496383"/>
            <a:ext cx="1514165" cy="1649090"/>
          </a:xfrm>
          <a:custGeom>
            <a:avLst/>
            <a:gdLst/>
            <a:ahLst/>
            <a:cxnLst/>
            <a:rect r="r" b="b" t="t" l="l"/>
            <a:pathLst>
              <a:path h="1649090" w="1514165">
                <a:moveTo>
                  <a:pt x="0" y="0"/>
                </a:moveTo>
                <a:lnTo>
                  <a:pt x="1514165" y="0"/>
                </a:lnTo>
                <a:lnTo>
                  <a:pt x="1514165" y="1649090"/>
                </a:lnTo>
                <a:lnTo>
                  <a:pt x="0" y="16490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929621" y="2828544"/>
            <a:ext cx="7931506" cy="4969308"/>
            <a:chOff x="0" y="0"/>
            <a:chExt cx="1808388" cy="11330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08388" cy="1133005"/>
            </a:xfrm>
            <a:custGeom>
              <a:avLst/>
              <a:gdLst/>
              <a:ahLst/>
              <a:cxnLst/>
              <a:rect r="r" b="b" t="t" l="l"/>
              <a:pathLst>
                <a:path h="1133005" w="1808388">
                  <a:moveTo>
                    <a:pt x="22450" y="0"/>
                  </a:moveTo>
                  <a:lnTo>
                    <a:pt x="1785938" y="0"/>
                  </a:lnTo>
                  <a:cubicBezTo>
                    <a:pt x="1798336" y="0"/>
                    <a:pt x="1808388" y="10051"/>
                    <a:pt x="1808388" y="22450"/>
                  </a:cubicBezTo>
                  <a:lnTo>
                    <a:pt x="1808388" y="1110555"/>
                  </a:lnTo>
                  <a:cubicBezTo>
                    <a:pt x="1808388" y="1122954"/>
                    <a:pt x="1798336" y="1133005"/>
                    <a:pt x="1785938" y="1133005"/>
                  </a:cubicBezTo>
                  <a:lnTo>
                    <a:pt x="22450" y="1133005"/>
                  </a:lnTo>
                  <a:cubicBezTo>
                    <a:pt x="10051" y="1133005"/>
                    <a:pt x="0" y="1122954"/>
                    <a:pt x="0" y="1110555"/>
                  </a:cubicBezTo>
                  <a:lnTo>
                    <a:pt x="0" y="22450"/>
                  </a:lnTo>
                  <a:cubicBezTo>
                    <a:pt x="0" y="10051"/>
                    <a:pt x="10051" y="0"/>
                    <a:pt x="2245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875" r="0" b="-875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552023" y="3703473"/>
            <a:ext cx="7976360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Smoke Test consistió en realizar pruebas básicas para verificar que las funcionalidades principales del sistema operaran correctamente y sin errores críticos, confirmando su estabilidad inicial antes de continuar con las siguientes fases de prueba.</a:t>
            </a:r>
          </a:p>
          <a:p>
            <a:pPr algn="just" marL="0" indent="0" lvl="0">
              <a:lnSpc>
                <a:spcPts val="315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730444" y="1370335"/>
            <a:ext cx="1082711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0"/>
              </a:lnSpc>
              <a:spcBef>
                <a:spcPct val="0"/>
              </a:spcBef>
            </a:pPr>
            <a:r>
              <a:rPr lang="en-US" sz="70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SMOKE TEST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8350302"/>
            <a:ext cx="8777369" cy="48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36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TESTCASE STUDIO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816593" cy="24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98761"/>
            <a:ext cx="16230600" cy="6459539"/>
            <a:chOff x="0" y="0"/>
            <a:chExt cx="2851563" cy="11349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51563" cy="1134911"/>
            </a:xfrm>
            <a:custGeom>
              <a:avLst/>
              <a:gdLst/>
              <a:ahLst/>
              <a:cxnLst/>
              <a:rect r="r" b="b" t="t" l="l"/>
              <a:pathLst>
                <a:path h="1134911" w="2851563">
                  <a:moveTo>
                    <a:pt x="2851563" y="9540"/>
                  </a:moveTo>
                  <a:lnTo>
                    <a:pt x="2851563" y="1125371"/>
                  </a:lnTo>
                  <a:cubicBezTo>
                    <a:pt x="2851563" y="1127901"/>
                    <a:pt x="2850558" y="1130328"/>
                    <a:pt x="2848769" y="1132117"/>
                  </a:cubicBezTo>
                  <a:cubicBezTo>
                    <a:pt x="2846980" y="1133906"/>
                    <a:pt x="2844553" y="1134911"/>
                    <a:pt x="2842023" y="1134911"/>
                  </a:cubicBezTo>
                  <a:lnTo>
                    <a:pt x="9540" y="1134911"/>
                  </a:lnTo>
                  <a:cubicBezTo>
                    <a:pt x="4271" y="1134911"/>
                    <a:pt x="0" y="1130640"/>
                    <a:pt x="0" y="112537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lnTo>
                    <a:pt x="2842023" y="0"/>
                  </a:lnTo>
                  <a:cubicBezTo>
                    <a:pt x="2844553" y="0"/>
                    <a:pt x="2846980" y="1005"/>
                    <a:pt x="2848769" y="2794"/>
                  </a:cubicBezTo>
                  <a:cubicBezTo>
                    <a:pt x="2850558" y="4583"/>
                    <a:pt x="2851563" y="7010"/>
                    <a:pt x="2851563" y="954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51563" cy="1173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88547" y="4581997"/>
            <a:ext cx="15510905" cy="443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44594B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Venta de Productos sin Restricciones: Se </a:t>
            </a:r>
            <a:r>
              <a:rPr lang="en-US" sz="30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permite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generar transacciones de "0" artículos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Apartado de "Baja de Empleado" No Encontrado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Apartado de "Eliminar Producto" No Encontrado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Falta de Campo de Precio en Compras: En el registro de compras, no cuenta con el apartado o campo para escribir y registrar el costo.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Edición de Productos con Campos Vacíos: Al modificar productos, permite guardar dejando el campo "Descripción" vacío, sin emitir alertas.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Permisividad de Registros Duplicados y Símbolos en Personal: En alta de empleados, se acepta registrar usuarios duplicados permite guardar nombres que contienen símbolos y caracteres especiales.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1134969"/>
            <a:ext cx="1368821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0"/>
              </a:lnSpc>
              <a:spcBef>
                <a:spcPct val="0"/>
              </a:spcBef>
            </a:pPr>
            <a:r>
              <a:rPr lang="en-US" sz="70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INCIDENCIAS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90698" y="850807"/>
            <a:ext cx="3333035" cy="149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sz="50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SMOKE</a:t>
            </a:r>
          </a:p>
          <a:p>
            <a:pPr algn="ctr" marL="0" indent="0" lvl="0">
              <a:lnSpc>
                <a:spcPts val="7400"/>
              </a:lnSpc>
            </a:pPr>
            <a:r>
              <a:rPr lang="en-US" sz="50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TEST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51062" y="328428"/>
            <a:ext cx="2268215" cy="2470333"/>
          </a:xfrm>
          <a:custGeom>
            <a:avLst/>
            <a:gdLst/>
            <a:ahLst/>
            <a:cxnLst/>
            <a:rect r="r" b="b" t="t" l="l"/>
            <a:pathLst>
              <a:path h="2470333" w="2268215">
                <a:moveTo>
                  <a:pt x="0" y="0"/>
                </a:moveTo>
                <a:lnTo>
                  <a:pt x="2268214" y="0"/>
                </a:lnTo>
                <a:lnTo>
                  <a:pt x="2268214" y="2470333"/>
                </a:lnTo>
                <a:lnTo>
                  <a:pt x="0" y="24703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90608" y="9615488"/>
            <a:ext cx="479866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LINK DEL REPOSITORIO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8547" y="3162772"/>
            <a:ext cx="1551090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 el caso del smok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 test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dec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dimo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h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acer 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pr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ueb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as en c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ro m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ódul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s: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iar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esión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,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greg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ar producto,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v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ta de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sug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cias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y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registro de 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v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os 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pleados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816593" cy="24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98761"/>
            <a:ext cx="16230600" cy="6459539"/>
            <a:chOff x="0" y="0"/>
            <a:chExt cx="2851563" cy="11349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51563" cy="1134911"/>
            </a:xfrm>
            <a:custGeom>
              <a:avLst/>
              <a:gdLst/>
              <a:ahLst/>
              <a:cxnLst/>
              <a:rect r="r" b="b" t="t" l="l"/>
              <a:pathLst>
                <a:path h="1134911" w="2851563">
                  <a:moveTo>
                    <a:pt x="2851563" y="9540"/>
                  </a:moveTo>
                  <a:lnTo>
                    <a:pt x="2851563" y="1125371"/>
                  </a:lnTo>
                  <a:cubicBezTo>
                    <a:pt x="2851563" y="1127901"/>
                    <a:pt x="2850558" y="1130328"/>
                    <a:pt x="2848769" y="1132117"/>
                  </a:cubicBezTo>
                  <a:cubicBezTo>
                    <a:pt x="2846980" y="1133906"/>
                    <a:pt x="2844553" y="1134911"/>
                    <a:pt x="2842023" y="1134911"/>
                  </a:cubicBezTo>
                  <a:lnTo>
                    <a:pt x="9540" y="1134911"/>
                  </a:lnTo>
                  <a:cubicBezTo>
                    <a:pt x="4271" y="1134911"/>
                    <a:pt x="0" y="1130640"/>
                    <a:pt x="0" y="112537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lnTo>
                    <a:pt x="2842023" y="0"/>
                  </a:lnTo>
                  <a:cubicBezTo>
                    <a:pt x="2844553" y="0"/>
                    <a:pt x="2846980" y="1005"/>
                    <a:pt x="2848769" y="2794"/>
                  </a:cubicBezTo>
                  <a:cubicBezTo>
                    <a:pt x="2850558" y="4583"/>
                    <a:pt x="2851563" y="7010"/>
                    <a:pt x="2851563" y="954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51563" cy="1173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1134969"/>
            <a:ext cx="1368821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0"/>
              </a:lnSpc>
              <a:spcBef>
                <a:spcPct val="0"/>
              </a:spcBef>
            </a:pPr>
            <a:r>
              <a:rPr lang="en-US" sz="70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INCIDENCIAS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90698" y="850807"/>
            <a:ext cx="2786211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50"/>
              </a:lnSpc>
            </a:pPr>
            <a:r>
              <a:rPr lang="en-US" sz="50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CICLO 1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51062" y="328428"/>
            <a:ext cx="2268215" cy="2470333"/>
          </a:xfrm>
          <a:custGeom>
            <a:avLst/>
            <a:gdLst/>
            <a:ahLst/>
            <a:cxnLst/>
            <a:rect r="r" b="b" t="t" l="l"/>
            <a:pathLst>
              <a:path h="2470333" w="2268215">
                <a:moveTo>
                  <a:pt x="0" y="0"/>
                </a:moveTo>
                <a:lnTo>
                  <a:pt x="2268214" y="0"/>
                </a:lnTo>
                <a:lnTo>
                  <a:pt x="2268214" y="2470333"/>
                </a:lnTo>
                <a:lnTo>
                  <a:pt x="0" y="24703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12634" y="3231657"/>
            <a:ext cx="15510905" cy="483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0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1. Incidencias Críticas (Flujo de Negocio Afectado)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V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nta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de Artículo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 Cer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 e Inconsistencias en Preventa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: Se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entificó una falla en el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ódulo de ventas. 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Aceptación de Valores y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Precio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gat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vo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</a:p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2. Inci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dencias Altas (Funcionalidades Bloqueadas o Ausentes)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Apartado de "Eliminar Producto" No Encontrado</a:t>
            </a:r>
          </a:p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3. Incidencias Medias (Validaciones y Mensajes de Error)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Edición de Productos con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Campos Vacíos</a:t>
            </a:r>
          </a:p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4. Incidencias Bajas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Contraste Deficiente en el Estado de Empleados: 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Sugerencia.</a:t>
            </a:r>
          </a:p>
          <a:p>
            <a:pPr algn="just" marL="0" indent="0" lvl="0">
              <a:lnSpc>
                <a:spcPts val="315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81083" y="9615488"/>
            <a:ext cx="479866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LINK DEL REPOSITORIO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816593" cy="24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98761"/>
            <a:ext cx="16230600" cy="6459539"/>
            <a:chOff x="0" y="0"/>
            <a:chExt cx="2851563" cy="11349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51563" cy="1134911"/>
            </a:xfrm>
            <a:custGeom>
              <a:avLst/>
              <a:gdLst/>
              <a:ahLst/>
              <a:cxnLst/>
              <a:rect r="r" b="b" t="t" l="l"/>
              <a:pathLst>
                <a:path h="1134911" w="2851563">
                  <a:moveTo>
                    <a:pt x="2851563" y="9540"/>
                  </a:moveTo>
                  <a:lnTo>
                    <a:pt x="2851563" y="1125371"/>
                  </a:lnTo>
                  <a:cubicBezTo>
                    <a:pt x="2851563" y="1127901"/>
                    <a:pt x="2850558" y="1130328"/>
                    <a:pt x="2848769" y="1132117"/>
                  </a:cubicBezTo>
                  <a:cubicBezTo>
                    <a:pt x="2846980" y="1133906"/>
                    <a:pt x="2844553" y="1134911"/>
                    <a:pt x="2842023" y="1134911"/>
                  </a:cubicBezTo>
                  <a:lnTo>
                    <a:pt x="9540" y="1134911"/>
                  </a:lnTo>
                  <a:cubicBezTo>
                    <a:pt x="4271" y="1134911"/>
                    <a:pt x="0" y="1130640"/>
                    <a:pt x="0" y="112537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lnTo>
                    <a:pt x="2842023" y="0"/>
                  </a:lnTo>
                  <a:cubicBezTo>
                    <a:pt x="2844553" y="0"/>
                    <a:pt x="2846980" y="1005"/>
                    <a:pt x="2848769" y="2794"/>
                  </a:cubicBezTo>
                  <a:cubicBezTo>
                    <a:pt x="2850558" y="4583"/>
                    <a:pt x="2851563" y="7010"/>
                    <a:pt x="2851563" y="954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51563" cy="1173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77451" y="3232141"/>
            <a:ext cx="15510905" cy="523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1. Incid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cias Crí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ic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(Flujo de Negocio Afectado)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Persist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cia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Valo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es Negativ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os y Datos Inválidos en Edición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Mensajes Cruzad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os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Val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idación de Stock</a:t>
            </a:r>
          </a:p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2. Incidencias Altas (Funcionalidades Bloqueadas o Ausentes)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Módulo de "Eliminar Producto" Continuamente Ausente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Sugerencia</a:t>
            </a:r>
          </a:p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3. Incidencias Medias (Validaciones y Mensajes de Error)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Falta de Confirmaciones Intuitivas de Éxito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Sugerencia</a:t>
            </a:r>
          </a:p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4. Incidencias Bajas (Interfaz y Experiencia de Usuario - UX)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Campos Opcionales sin Indicación Clara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Sugerencia</a:t>
            </a:r>
          </a:p>
          <a:p>
            <a:pPr algn="just" marL="0" indent="0" lvl="0">
              <a:lnSpc>
                <a:spcPts val="315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-365875" y="1150936"/>
            <a:ext cx="1368821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0"/>
              </a:lnSpc>
              <a:spcBef>
                <a:spcPct val="0"/>
              </a:spcBef>
            </a:pPr>
            <a:r>
              <a:rPr lang="en-US" sz="70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INCIDENCIAS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77835" y="915894"/>
            <a:ext cx="3014675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50"/>
              </a:lnSpc>
              <a:spcBef>
                <a:spcPct val="0"/>
              </a:spcBef>
            </a:pPr>
            <a:r>
              <a:rPr lang="en-US" sz="50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CICLO 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51062" y="328428"/>
            <a:ext cx="2268215" cy="2470333"/>
          </a:xfrm>
          <a:custGeom>
            <a:avLst/>
            <a:gdLst/>
            <a:ahLst/>
            <a:cxnLst/>
            <a:rect r="r" b="b" t="t" l="l"/>
            <a:pathLst>
              <a:path h="2470333" w="2268215">
                <a:moveTo>
                  <a:pt x="0" y="0"/>
                </a:moveTo>
                <a:lnTo>
                  <a:pt x="2268214" y="0"/>
                </a:lnTo>
                <a:lnTo>
                  <a:pt x="2268214" y="2470333"/>
                </a:lnTo>
                <a:lnTo>
                  <a:pt x="0" y="24703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90608" y="9615488"/>
            <a:ext cx="479866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LINK DEL REPOSITORIO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816593" cy="24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98761"/>
            <a:ext cx="16230600" cy="6459539"/>
            <a:chOff x="0" y="0"/>
            <a:chExt cx="2851563" cy="11349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51563" cy="1134911"/>
            </a:xfrm>
            <a:custGeom>
              <a:avLst/>
              <a:gdLst/>
              <a:ahLst/>
              <a:cxnLst/>
              <a:rect r="r" b="b" t="t" l="l"/>
              <a:pathLst>
                <a:path h="1134911" w="2851563">
                  <a:moveTo>
                    <a:pt x="2851563" y="9540"/>
                  </a:moveTo>
                  <a:lnTo>
                    <a:pt x="2851563" y="1125371"/>
                  </a:lnTo>
                  <a:cubicBezTo>
                    <a:pt x="2851563" y="1127901"/>
                    <a:pt x="2850558" y="1130328"/>
                    <a:pt x="2848769" y="1132117"/>
                  </a:cubicBezTo>
                  <a:cubicBezTo>
                    <a:pt x="2846980" y="1133906"/>
                    <a:pt x="2844553" y="1134911"/>
                    <a:pt x="2842023" y="1134911"/>
                  </a:cubicBezTo>
                  <a:lnTo>
                    <a:pt x="9540" y="1134911"/>
                  </a:lnTo>
                  <a:cubicBezTo>
                    <a:pt x="4271" y="1134911"/>
                    <a:pt x="0" y="1130640"/>
                    <a:pt x="0" y="112537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lnTo>
                    <a:pt x="2842023" y="0"/>
                  </a:lnTo>
                  <a:cubicBezTo>
                    <a:pt x="2844553" y="0"/>
                    <a:pt x="2846980" y="1005"/>
                    <a:pt x="2848769" y="2794"/>
                  </a:cubicBezTo>
                  <a:cubicBezTo>
                    <a:pt x="2850558" y="4583"/>
                    <a:pt x="2851563" y="7010"/>
                    <a:pt x="2851563" y="954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51563" cy="1173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88547" y="3073819"/>
            <a:ext cx="15510905" cy="443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1. Incid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cias Crí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ic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(Flujo 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Negocio Afectado)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Permisividad de Registros co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Datos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 Rojo en el Inventa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Sug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er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enc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ia</a:t>
            </a:r>
          </a:p>
          <a:p>
            <a:pPr algn="just">
              <a:lnSpc>
                <a:spcPts val="3150"/>
              </a:lnSpc>
              <a:spcBef>
                <a:spcPct val="0"/>
              </a:spcBef>
            </a:pPr>
          </a:p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2. Inci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dencias Altas (Funcionalidades Bloqueadas o Ausentes)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Bloqueo Persistente por Ausencia del Módulo "Eliminar Producto"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Sugerencia</a:t>
            </a:r>
          </a:p>
          <a:p>
            <a:pPr algn="just">
              <a:lnSpc>
                <a:spcPts val="3150"/>
              </a:lnSpc>
              <a:spcBef>
                <a:spcPct val="0"/>
              </a:spcBef>
            </a:pPr>
          </a:p>
          <a:p>
            <a:pPr algn="just">
              <a:lnSpc>
                <a:spcPts val="315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3. Incidencias Medias (Validaciones y Mensajes de Error)</a:t>
            </a:r>
          </a:p>
          <a:p>
            <a:pPr algn="just" marL="647700" indent="-323850" lvl="1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Ausencia de Mensaje Informativo de Éxito al Modificar.</a:t>
            </a:r>
          </a:p>
          <a:p>
            <a:pPr algn="just" marL="0" indent="0" lvl="0">
              <a:lnSpc>
                <a:spcPts val="315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-297522" y="1150936"/>
            <a:ext cx="1368821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0"/>
              </a:lnSpc>
              <a:spcBef>
                <a:spcPct val="0"/>
              </a:spcBef>
            </a:pPr>
            <a:r>
              <a:rPr lang="en-US" sz="70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INCIDENCIAS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17071" y="750886"/>
            <a:ext cx="2873182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50"/>
              </a:lnSpc>
              <a:spcBef>
                <a:spcPct val="0"/>
              </a:spcBef>
            </a:pPr>
            <a:r>
              <a:rPr lang="en-US" sz="50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CICLO3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51062" y="328428"/>
            <a:ext cx="2268215" cy="2470333"/>
          </a:xfrm>
          <a:custGeom>
            <a:avLst/>
            <a:gdLst/>
            <a:ahLst/>
            <a:cxnLst/>
            <a:rect r="r" b="b" t="t" l="l"/>
            <a:pathLst>
              <a:path h="2470333" w="2268215">
                <a:moveTo>
                  <a:pt x="0" y="0"/>
                </a:moveTo>
                <a:lnTo>
                  <a:pt x="2268214" y="0"/>
                </a:lnTo>
                <a:lnTo>
                  <a:pt x="2268214" y="2470333"/>
                </a:lnTo>
                <a:lnTo>
                  <a:pt x="0" y="24703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90608" y="9615488"/>
            <a:ext cx="479866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LINK DEL REPOSITORIO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1464848" cy="10287000"/>
            <a:chOff x="0" y="0"/>
            <a:chExt cx="301954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195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3019548">
                  <a:moveTo>
                    <a:pt x="0" y="0"/>
                  </a:moveTo>
                  <a:lnTo>
                    <a:pt x="3019548" y="0"/>
                  </a:lnTo>
                  <a:lnTo>
                    <a:pt x="30195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019548" cy="2680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88278" y="3130665"/>
            <a:ext cx="11996942" cy="6796352"/>
            <a:chOff x="0" y="0"/>
            <a:chExt cx="3499039" cy="1982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99040" cy="1982284"/>
            </a:xfrm>
            <a:custGeom>
              <a:avLst/>
              <a:gdLst/>
              <a:ahLst/>
              <a:cxnLst/>
              <a:rect r="r" b="b" t="t" l="l"/>
              <a:pathLst>
                <a:path h="1982284" w="3499040">
                  <a:moveTo>
                    <a:pt x="3499040" y="12906"/>
                  </a:moveTo>
                  <a:lnTo>
                    <a:pt x="3499040" y="1969378"/>
                  </a:lnTo>
                  <a:cubicBezTo>
                    <a:pt x="3499040" y="1976506"/>
                    <a:pt x="3493261" y="1982284"/>
                    <a:pt x="3486133" y="1982284"/>
                  </a:cubicBezTo>
                  <a:lnTo>
                    <a:pt x="12906" y="1982284"/>
                  </a:lnTo>
                  <a:cubicBezTo>
                    <a:pt x="5778" y="1982284"/>
                    <a:pt x="0" y="1976506"/>
                    <a:pt x="0" y="1969378"/>
                  </a:cubicBezTo>
                  <a:lnTo>
                    <a:pt x="0" y="12906"/>
                  </a:lnTo>
                  <a:cubicBezTo>
                    <a:pt x="0" y="5778"/>
                    <a:pt x="5778" y="0"/>
                    <a:pt x="12906" y="0"/>
                  </a:cubicBezTo>
                  <a:lnTo>
                    <a:pt x="3486133" y="0"/>
                  </a:lnTo>
                  <a:cubicBezTo>
                    <a:pt x="3489556" y="0"/>
                    <a:pt x="3492839" y="1360"/>
                    <a:pt x="3495259" y="3780"/>
                  </a:cubicBezTo>
                  <a:cubicBezTo>
                    <a:pt x="3497680" y="6201"/>
                    <a:pt x="3499040" y="9483"/>
                    <a:pt x="3499040" y="1290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99039" cy="2020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5767862" y="3255718"/>
            <a:ext cx="11637773" cy="6546247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164543" y="5028585"/>
            <a:ext cx="3620613" cy="445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2285" strike="noStrike" u="none">
                <a:solidFill>
                  <a:srgbClr val="FFFFFF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Durante la prueba automatizada en el módulo registrar empleados, se encontró que los registros se realizaban correctamente. </a:t>
            </a:r>
          </a:p>
          <a:p>
            <a:pPr algn="just" marL="0" indent="0" lvl="0">
              <a:lnSpc>
                <a:spcPts val="23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2285" strike="noStrike" u="none">
                <a:solidFill>
                  <a:srgbClr val="FFFFFF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Para ello se utilizó un sistema de coordenadas para permitir que de manera automatica se realizará el proceso, utilizando un archivo externo con una lista de nombres.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6246" y="544334"/>
            <a:ext cx="10012355" cy="236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</a:pPr>
            <a:r>
              <a:rPr lang="en-US" sz="6800">
                <a:solidFill>
                  <a:srgbClr val="FFFFFF"/>
                </a:solidFill>
                <a:latin typeface="TAN Mon Cheri"/>
                <a:ea typeface="TAN Mon Cheri"/>
                <a:cs typeface="TAN Mon Cheri"/>
                <a:sym typeface="TAN Mon Cheri"/>
              </a:rPr>
              <a:t>PRUEBA AUTOMATIZADA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4735" y="3528876"/>
            <a:ext cx="348022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REGISTRAR EMPLEADOS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56914" y="2308668"/>
            <a:ext cx="410616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  <a:hlinkClick r:id="rId6" tooltip="https://drive.google.com/drive/folders/1DSo5PsVRHGbmcP4tDjNJuk2XnH7GsGYi?usp=sharing"/>
              </a:rPr>
              <a:t>Link para ver archivos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1464848" cy="10287000"/>
            <a:chOff x="0" y="0"/>
            <a:chExt cx="301954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195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3019548">
                  <a:moveTo>
                    <a:pt x="0" y="0"/>
                  </a:moveTo>
                  <a:lnTo>
                    <a:pt x="3019548" y="0"/>
                  </a:lnTo>
                  <a:lnTo>
                    <a:pt x="30195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019548" cy="2680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88278" y="3130665"/>
            <a:ext cx="11996942" cy="6796352"/>
            <a:chOff x="0" y="0"/>
            <a:chExt cx="3499039" cy="1982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99040" cy="1982284"/>
            </a:xfrm>
            <a:custGeom>
              <a:avLst/>
              <a:gdLst/>
              <a:ahLst/>
              <a:cxnLst/>
              <a:rect r="r" b="b" t="t" l="l"/>
              <a:pathLst>
                <a:path h="1982284" w="3499040">
                  <a:moveTo>
                    <a:pt x="3499040" y="12906"/>
                  </a:moveTo>
                  <a:lnTo>
                    <a:pt x="3499040" y="1969378"/>
                  </a:lnTo>
                  <a:cubicBezTo>
                    <a:pt x="3499040" y="1976506"/>
                    <a:pt x="3493261" y="1982284"/>
                    <a:pt x="3486133" y="1982284"/>
                  </a:cubicBezTo>
                  <a:lnTo>
                    <a:pt x="12906" y="1982284"/>
                  </a:lnTo>
                  <a:cubicBezTo>
                    <a:pt x="5778" y="1982284"/>
                    <a:pt x="0" y="1976506"/>
                    <a:pt x="0" y="1969378"/>
                  </a:cubicBezTo>
                  <a:lnTo>
                    <a:pt x="0" y="12906"/>
                  </a:lnTo>
                  <a:cubicBezTo>
                    <a:pt x="0" y="5778"/>
                    <a:pt x="5778" y="0"/>
                    <a:pt x="12906" y="0"/>
                  </a:cubicBezTo>
                  <a:lnTo>
                    <a:pt x="3486133" y="0"/>
                  </a:lnTo>
                  <a:cubicBezTo>
                    <a:pt x="3489556" y="0"/>
                    <a:pt x="3492839" y="1360"/>
                    <a:pt x="3495259" y="3780"/>
                  </a:cubicBezTo>
                  <a:cubicBezTo>
                    <a:pt x="3497680" y="6201"/>
                    <a:pt x="3499040" y="9483"/>
                    <a:pt x="3499040" y="1290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99039" cy="2020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5680268" y="3354108"/>
            <a:ext cx="11812962" cy="6349467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19408" y="5028585"/>
            <a:ext cx="4560189" cy="327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9"/>
              </a:lnSpc>
            </a:pPr>
            <a:r>
              <a:rPr lang="en-US" sz="2285">
                <a:solidFill>
                  <a:srgbClr val="FFFFFF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Durante la prueba automatizada de registro de sugerencias hubo algunos problemas que fueron solucionados con exito</a:t>
            </a:r>
          </a:p>
          <a:p>
            <a:pPr algn="just">
              <a:lnSpc>
                <a:spcPts val="2399"/>
              </a:lnSpc>
            </a:pPr>
          </a:p>
          <a:p>
            <a:pPr algn="just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2285">
                <a:solidFill>
                  <a:srgbClr val="FFFFFF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Para ello se utilizó un sistema de coordenadas para permitir que de manera automatica se realizará el proceso, utilizando un archivo externo con una lista de nombres.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6246" y="544334"/>
            <a:ext cx="10012355" cy="236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</a:pPr>
            <a:r>
              <a:rPr lang="en-US" sz="6800">
                <a:solidFill>
                  <a:srgbClr val="FFFFFF"/>
                </a:solidFill>
                <a:latin typeface="TAN Mon Cheri"/>
                <a:ea typeface="TAN Mon Cheri"/>
                <a:cs typeface="TAN Mon Cheri"/>
                <a:sym typeface="TAN Mon Cheri"/>
              </a:rPr>
              <a:t>PRUEBA AUTOMATIZADA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9408" y="3528876"/>
            <a:ext cx="496887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REGISTRAR SUGERENCIAS DE EMPLEADOS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56914" y="2308668"/>
            <a:ext cx="410616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  <a:hlinkClick r:id="rId6" tooltip="https://drive.google.com/drive/folders/1DSo5PsVRHGbmcP4tDjNJuk2XnH7GsGYi?usp=sharing"/>
              </a:rPr>
              <a:t>Link para ver archivos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84874" y="5676900"/>
            <a:ext cx="2268215" cy="2470333"/>
          </a:xfrm>
          <a:custGeom>
            <a:avLst/>
            <a:gdLst/>
            <a:ahLst/>
            <a:cxnLst/>
            <a:rect r="r" b="b" t="t" l="l"/>
            <a:pathLst>
              <a:path h="2470333" w="2268215">
                <a:moveTo>
                  <a:pt x="0" y="0"/>
                </a:moveTo>
                <a:lnTo>
                  <a:pt x="2268215" y="0"/>
                </a:lnTo>
                <a:lnTo>
                  <a:pt x="2268215" y="2470333"/>
                </a:lnTo>
                <a:lnTo>
                  <a:pt x="0" y="24703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816593" cy="24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0102" y="2798761"/>
            <a:ext cx="7773898" cy="5756279"/>
            <a:chOff x="0" y="0"/>
            <a:chExt cx="2047431" cy="15160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7431" cy="1516087"/>
            </a:xfrm>
            <a:custGeom>
              <a:avLst/>
              <a:gdLst/>
              <a:ahLst/>
              <a:cxnLst/>
              <a:rect r="r" b="b" t="t" l="l"/>
              <a:pathLst>
                <a:path h="1516087" w="2047431">
                  <a:moveTo>
                    <a:pt x="2047431" y="19918"/>
                  </a:moveTo>
                  <a:lnTo>
                    <a:pt x="2047431" y="1496169"/>
                  </a:lnTo>
                  <a:cubicBezTo>
                    <a:pt x="2047431" y="1507169"/>
                    <a:pt x="2038513" y="1516087"/>
                    <a:pt x="2027513" y="1516087"/>
                  </a:cubicBezTo>
                  <a:lnTo>
                    <a:pt x="19918" y="1516087"/>
                  </a:lnTo>
                  <a:cubicBezTo>
                    <a:pt x="8917" y="1516087"/>
                    <a:pt x="0" y="1507169"/>
                    <a:pt x="0" y="1496169"/>
                  </a:cubicBezTo>
                  <a:lnTo>
                    <a:pt x="0" y="19918"/>
                  </a:lnTo>
                  <a:cubicBezTo>
                    <a:pt x="0" y="8917"/>
                    <a:pt x="8917" y="0"/>
                    <a:pt x="19918" y="0"/>
                  </a:cubicBezTo>
                  <a:lnTo>
                    <a:pt x="2027513" y="0"/>
                  </a:lnTo>
                  <a:cubicBezTo>
                    <a:pt x="2032795" y="0"/>
                    <a:pt x="2037862" y="2098"/>
                    <a:pt x="2041597" y="5834"/>
                  </a:cubicBezTo>
                  <a:cubicBezTo>
                    <a:pt x="2045332" y="9569"/>
                    <a:pt x="2047431" y="14635"/>
                    <a:pt x="2047431" y="1991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47431" cy="1554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7064" y="1470582"/>
            <a:ext cx="15013014" cy="79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95"/>
              </a:lnSpc>
              <a:spcBef>
                <a:spcPct val="0"/>
              </a:spcBef>
            </a:pPr>
            <a:r>
              <a:rPr lang="en-US" sz="59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PRUEBAS DE CARGA Y ESTRÉS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727835" y="0"/>
            <a:ext cx="5642240" cy="5586560"/>
          </a:xfrm>
          <a:custGeom>
            <a:avLst/>
            <a:gdLst/>
            <a:ahLst/>
            <a:cxnLst/>
            <a:rect r="r" b="b" t="t" l="l"/>
            <a:pathLst>
              <a:path h="5586560" w="5642240">
                <a:moveTo>
                  <a:pt x="0" y="0"/>
                </a:moveTo>
                <a:lnTo>
                  <a:pt x="5642240" y="0"/>
                </a:lnTo>
                <a:lnTo>
                  <a:pt x="5642240" y="5586560"/>
                </a:lnTo>
                <a:lnTo>
                  <a:pt x="0" y="5586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831446" y="2498421"/>
            <a:ext cx="5792778" cy="6356958"/>
          </a:xfrm>
          <a:custGeom>
            <a:avLst/>
            <a:gdLst/>
            <a:ahLst/>
            <a:cxnLst/>
            <a:rect r="r" b="b" t="t" l="l"/>
            <a:pathLst>
              <a:path h="6356958" w="5792778">
                <a:moveTo>
                  <a:pt x="0" y="0"/>
                </a:moveTo>
                <a:lnTo>
                  <a:pt x="5792778" y="0"/>
                </a:lnTo>
                <a:lnTo>
                  <a:pt x="579277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90531" y="3509836"/>
            <a:ext cx="6333040" cy="363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0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Durante las pruebas de carga se incrementó progresivamente la concurrencia hasta alcanzar 1000 usuarios simultáneos. El sistema no presentó errores de ejecución ni fallos de disponibilidad (0% de errores); sin embargo, se observó una degradación importante en el rendimiento.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84874" y="5676900"/>
            <a:ext cx="2268215" cy="2470333"/>
          </a:xfrm>
          <a:custGeom>
            <a:avLst/>
            <a:gdLst/>
            <a:ahLst/>
            <a:cxnLst/>
            <a:rect r="r" b="b" t="t" l="l"/>
            <a:pathLst>
              <a:path h="2470333" w="2268215">
                <a:moveTo>
                  <a:pt x="0" y="0"/>
                </a:moveTo>
                <a:lnTo>
                  <a:pt x="2268215" y="0"/>
                </a:lnTo>
                <a:lnTo>
                  <a:pt x="2268215" y="2470333"/>
                </a:lnTo>
                <a:lnTo>
                  <a:pt x="0" y="24703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816593" cy="24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25382" y="2793280"/>
            <a:ext cx="7773898" cy="5756279"/>
            <a:chOff x="0" y="0"/>
            <a:chExt cx="2047431" cy="15160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7431" cy="1516087"/>
            </a:xfrm>
            <a:custGeom>
              <a:avLst/>
              <a:gdLst/>
              <a:ahLst/>
              <a:cxnLst/>
              <a:rect r="r" b="b" t="t" l="l"/>
              <a:pathLst>
                <a:path h="1516087" w="2047431">
                  <a:moveTo>
                    <a:pt x="2047431" y="19918"/>
                  </a:moveTo>
                  <a:lnTo>
                    <a:pt x="2047431" y="1496169"/>
                  </a:lnTo>
                  <a:cubicBezTo>
                    <a:pt x="2047431" y="1507169"/>
                    <a:pt x="2038513" y="1516087"/>
                    <a:pt x="2027513" y="1516087"/>
                  </a:cubicBezTo>
                  <a:lnTo>
                    <a:pt x="19918" y="1516087"/>
                  </a:lnTo>
                  <a:cubicBezTo>
                    <a:pt x="8917" y="1516087"/>
                    <a:pt x="0" y="1507169"/>
                    <a:pt x="0" y="1496169"/>
                  </a:cubicBezTo>
                  <a:lnTo>
                    <a:pt x="0" y="19918"/>
                  </a:lnTo>
                  <a:cubicBezTo>
                    <a:pt x="0" y="8917"/>
                    <a:pt x="8917" y="0"/>
                    <a:pt x="19918" y="0"/>
                  </a:cubicBezTo>
                  <a:lnTo>
                    <a:pt x="2027513" y="0"/>
                  </a:lnTo>
                  <a:cubicBezTo>
                    <a:pt x="2032795" y="0"/>
                    <a:pt x="2037862" y="2098"/>
                    <a:pt x="2041597" y="5834"/>
                  </a:cubicBezTo>
                  <a:cubicBezTo>
                    <a:pt x="2045332" y="9569"/>
                    <a:pt x="2047431" y="14635"/>
                    <a:pt x="2047431" y="1991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47431" cy="1554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7064" y="1470582"/>
            <a:ext cx="15013014" cy="79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95"/>
              </a:lnSpc>
              <a:spcBef>
                <a:spcPct val="0"/>
              </a:spcBef>
            </a:pPr>
            <a:r>
              <a:rPr lang="en-US" sz="59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PRUEBAS DE CARGA Y ESTRÉS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727835" y="0"/>
            <a:ext cx="5642240" cy="5586560"/>
          </a:xfrm>
          <a:custGeom>
            <a:avLst/>
            <a:gdLst/>
            <a:ahLst/>
            <a:cxnLst/>
            <a:rect r="r" b="b" t="t" l="l"/>
            <a:pathLst>
              <a:path h="5586560" w="5642240">
                <a:moveTo>
                  <a:pt x="0" y="0"/>
                </a:moveTo>
                <a:lnTo>
                  <a:pt x="5642240" y="0"/>
                </a:lnTo>
                <a:lnTo>
                  <a:pt x="5642240" y="5586560"/>
                </a:lnTo>
                <a:lnTo>
                  <a:pt x="0" y="5586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64448" y="3104519"/>
            <a:ext cx="7095767" cy="532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35"/>
              </a:lnSpc>
            </a:pPr>
            <a:r>
              <a:rPr lang="en-US" sz="27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La tasa de procesamiento se estabilizó alrededor de 44 solicitudes por segundo, mientras que los tiempos de respuesta aumentaron considerablemente, alcanzando aproximadamente 18 segundos en el percentil 50 y 24 segundos en el percentil 95.</a:t>
            </a:r>
          </a:p>
          <a:p>
            <a:pPr algn="just">
              <a:lnSpc>
                <a:spcPts val="2835"/>
              </a:lnSpc>
            </a:pPr>
            <a:r>
              <a:rPr lang="en-US" sz="27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Estos resultados indican que, aunque la aplicación permanece operativa, el servidor alcanza un punto de saturación cercano a los 700-1000 usuarios concurrentes, donde la capacidad de procesamiento deja de crecer y la experiencia del usuario se vuelve poco aceptable debido a la alta latencia.</a:t>
            </a:r>
          </a:p>
          <a:p>
            <a:pPr algn="just">
              <a:lnSpc>
                <a:spcPts val="2835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831446" y="2498421"/>
            <a:ext cx="5792778" cy="6356958"/>
          </a:xfrm>
          <a:custGeom>
            <a:avLst/>
            <a:gdLst/>
            <a:ahLst/>
            <a:cxnLst/>
            <a:rect r="r" b="b" t="t" l="l"/>
            <a:pathLst>
              <a:path h="6356958" w="5792778">
                <a:moveTo>
                  <a:pt x="0" y="0"/>
                </a:moveTo>
                <a:lnTo>
                  <a:pt x="5792778" y="0"/>
                </a:lnTo>
                <a:lnTo>
                  <a:pt x="579277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84874" y="5676900"/>
            <a:ext cx="2268215" cy="2470333"/>
          </a:xfrm>
          <a:custGeom>
            <a:avLst/>
            <a:gdLst/>
            <a:ahLst/>
            <a:cxnLst/>
            <a:rect r="r" b="b" t="t" l="l"/>
            <a:pathLst>
              <a:path h="2470333" w="2268215">
                <a:moveTo>
                  <a:pt x="0" y="0"/>
                </a:moveTo>
                <a:lnTo>
                  <a:pt x="2268215" y="0"/>
                </a:lnTo>
                <a:lnTo>
                  <a:pt x="2268215" y="2470333"/>
                </a:lnTo>
                <a:lnTo>
                  <a:pt x="0" y="24703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816593" cy="24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7064" y="1470582"/>
            <a:ext cx="15013014" cy="79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95"/>
              </a:lnSpc>
              <a:spcBef>
                <a:spcPct val="0"/>
              </a:spcBef>
            </a:pPr>
            <a:r>
              <a:rPr lang="en-US" sz="59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PRUEBAS DE CARGA Y ESTRÉS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727835" y="0"/>
            <a:ext cx="5642240" cy="5586560"/>
          </a:xfrm>
          <a:custGeom>
            <a:avLst/>
            <a:gdLst/>
            <a:ahLst/>
            <a:cxnLst/>
            <a:rect r="r" b="b" t="t" l="l"/>
            <a:pathLst>
              <a:path h="5586560" w="5642240">
                <a:moveTo>
                  <a:pt x="0" y="0"/>
                </a:moveTo>
                <a:lnTo>
                  <a:pt x="5642240" y="0"/>
                </a:lnTo>
                <a:lnTo>
                  <a:pt x="5642240" y="5586560"/>
                </a:lnTo>
                <a:lnTo>
                  <a:pt x="0" y="5586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3219574" y="2616145"/>
            <a:ext cx="12329381" cy="6935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84874" y="5676900"/>
            <a:ext cx="2268215" cy="2470333"/>
          </a:xfrm>
          <a:custGeom>
            <a:avLst/>
            <a:gdLst/>
            <a:ahLst/>
            <a:cxnLst/>
            <a:rect r="r" b="b" t="t" l="l"/>
            <a:pathLst>
              <a:path h="2470333" w="2268215">
                <a:moveTo>
                  <a:pt x="0" y="0"/>
                </a:moveTo>
                <a:lnTo>
                  <a:pt x="2268215" y="0"/>
                </a:lnTo>
                <a:lnTo>
                  <a:pt x="2268215" y="2470333"/>
                </a:lnTo>
                <a:lnTo>
                  <a:pt x="0" y="24703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816593" cy="24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0102" y="2798761"/>
            <a:ext cx="7773898" cy="5756279"/>
            <a:chOff x="0" y="0"/>
            <a:chExt cx="2047431" cy="15160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7431" cy="1516087"/>
            </a:xfrm>
            <a:custGeom>
              <a:avLst/>
              <a:gdLst/>
              <a:ahLst/>
              <a:cxnLst/>
              <a:rect r="r" b="b" t="t" l="l"/>
              <a:pathLst>
                <a:path h="1516087" w="2047431">
                  <a:moveTo>
                    <a:pt x="2047431" y="19918"/>
                  </a:moveTo>
                  <a:lnTo>
                    <a:pt x="2047431" y="1496169"/>
                  </a:lnTo>
                  <a:cubicBezTo>
                    <a:pt x="2047431" y="1507169"/>
                    <a:pt x="2038513" y="1516087"/>
                    <a:pt x="2027513" y="1516087"/>
                  </a:cubicBezTo>
                  <a:lnTo>
                    <a:pt x="19918" y="1516087"/>
                  </a:lnTo>
                  <a:cubicBezTo>
                    <a:pt x="8917" y="1516087"/>
                    <a:pt x="0" y="1507169"/>
                    <a:pt x="0" y="1496169"/>
                  </a:cubicBezTo>
                  <a:lnTo>
                    <a:pt x="0" y="19918"/>
                  </a:lnTo>
                  <a:cubicBezTo>
                    <a:pt x="0" y="8917"/>
                    <a:pt x="8917" y="0"/>
                    <a:pt x="19918" y="0"/>
                  </a:cubicBezTo>
                  <a:lnTo>
                    <a:pt x="2027513" y="0"/>
                  </a:lnTo>
                  <a:cubicBezTo>
                    <a:pt x="2032795" y="0"/>
                    <a:pt x="2037862" y="2098"/>
                    <a:pt x="2041597" y="5834"/>
                  </a:cubicBezTo>
                  <a:cubicBezTo>
                    <a:pt x="2045332" y="9569"/>
                    <a:pt x="2047431" y="14635"/>
                    <a:pt x="2047431" y="1991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47431" cy="1554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7064" y="1470582"/>
            <a:ext cx="15013014" cy="79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95"/>
              </a:lnSpc>
              <a:spcBef>
                <a:spcPct val="0"/>
              </a:spcBef>
            </a:pPr>
            <a:r>
              <a:rPr lang="en-US" sz="5900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PRUEBAS DE CARGA Y ESTRÉS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727835" y="0"/>
            <a:ext cx="5642240" cy="5586560"/>
          </a:xfrm>
          <a:custGeom>
            <a:avLst/>
            <a:gdLst/>
            <a:ahLst/>
            <a:cxnLst/>
            <a:rect r="r" b="b" t="t" l="l"/>
            <a:pathLst>
              <a:path h="5586560" w="5642240">
                <a:moveTo>
                  <a:pt x="0" y="0"/>
                </a:moveTo>
                <a:lnTo>
                  <a:pt x="5642240" y="0"/>
                </a:lnTo>
                <a:lnTo>
                  <a:pt x="5642240" y="5586560"/>
                </a:lnTo>
                <a:lnTo>
                  <a:pt x="0" y="5586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709486" y="2408081"/>
            <a:ext cx="5848402" cy="6356958"/>
          </a:xfrm>
          <a:custGeom>
            <a:avLst/>
            <a:gdLst/>
            <a:ahLst/>
            <a:cxnLst/>
            <a:rect r="r" b="b" t="t" l="l"/>
            <a:pathLst>
              <a:path h="6356958" w="5848402">
                <a:moveTo>
                  <a:pt x="0" y="0"/>
                </a:moveTo>
                <a:lnTo>
                  <a:pt x="5848401" y="0"/>
                </a:lnTo>
                <a:lnTo>
                  <a:pt x="584840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09168" y="3227542"/>
            <a:ext cx="7095767" cy="215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35"/>
              </a:lnSpc>
            </a:pPr>
            <a:r>
              <a:rPr lang="en-US" sz="27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El sistema alcanzó una disponibilidad cercana al 90% bajo una carga extrema de más de 3500 usuarios concurrentes, lo que demuestra una buena capacidad de escalamiento, aunque con degradación progresiva en los tiempos de respuesta.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326835"/>
            <a:ext cx="6795469" cy="7633331"/>
          </a:xfrm>
          <a:custGeom>
            <a:avLst/>
            <a:gdLst/>
            <a:ahLst/>
            <a:cxnLst/>
            <a:rect r="r" b="b" t="t" l="l"/>
            <a:pathLst>
              <a:path h="7633331" w="6795469">
                <a:moveTo>
                  <a:pt x="0" y="0"/>
                </a:moveTo>
                <a:lnTo>
                  <a:pt x="6795469" y="0"/>
                </a:lnTo>
                <a:lnTo>
                  <a:pt x="6795469" y="7633330"/>
                </a:lnTo>
                <a:lnTo>
                  <a:pt x="0" y="7633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6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55763" y="1326835"/>
            <a:ext cx="7903537" cy="7633331"/>
          </a:xfrm>
          <a:custGeom>
            <a:avLst/>
            <a:gdLst/>
            <a:ahLst/>
            <a:cxnLst/>
            <a:rect r="r" b="b" t="t" l="l"/>
            <a:pathLst>
              <a:path h="7633331" w="7903537">
                <a:moveTo>
                  <a:pt x="0" y="0"/>
                </a:moveTo>
                <a:lnTo>
                  <a:pt x="7903537" y="0"/>
                </a:lnTo>
                <a:lnTo>
                  <a:pt x="7903537" y="7633330"/>
                </a:lnTo>
                <a:lnTo>
                  <a:pt x="0" y="7633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69547" y="552451"/>
            <a:ext cx="5172433" cy="47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3499">
                <a:solidFill>
                  <a:srgbClr val="44594B"/>
                </a:solidFill>
                <a:latin typeface="TAN Mon Cheri"/>
                <a:ea typeface="TAN Mon Cheri"/>
                <a:cs typeface="TAN Mon Cheri"/>
                <a:sym typeface="TAN Mon Cheri"/>
              </a:rPr>
              <a:t>PLAN DE TRABAJO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84254" y="9472190"/>
            <a:ext cx="2858333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sz="3099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PLANEADO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71906" y="9472190"/>
            <a:ext cx="1349097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sz="3099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REAL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60347" y="1670971"/>
            <a:ext cx="13518626" cy="7587329"/>
          </a:xfrm>
          <a:custGeom>
            <a:avLst/>
            <a:gdLst/>
            <a:ahLst/>
            <a:cxnLst/>
            <a:rect r="r" b="b" t="t" l="l"/>
            <a:pathLst>
              <a:path h="7587329" w="13518626">
                <a:moveTo>
                  <a:pt x="0" y="0"/>
                </a:moveTo>
                <a:lnTo>
                  <a:pt x="13518626" y="0"/>
                </a:lnTo>
                <a:lnTo>
                  <a:pt x="13518626" y="7587329"/>
                </a:lnTo>
                <a:lnTo>
                  <a:pt x="0" y="7587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60949" y="814388"/>
            <a:ext cx="9766102" cy="47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3499">
                <a:solidFill>
                  <a:srgbClr val="44594B"/>
                </a:solidFill>
                <a:latin typeface="TAN Mon Cheri"/>
                <a:ea typeface="TAN Mon Cheri"/>
                <a:cs typeface="TAN Mon Cheri"/>
                <a:sym typeface="TAN Mon Cheri"/>
              </a:rPr>
              <a:t>PLAN DE TRABAJO (ESTADISTICAS)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23152" y="0"/>
            <a:ext cx="11464848" cy="10287000"/>
            <a:chOff x="0" y="0"/>
            <a:chExt cx="301954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195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3019548">
                  <a:moveTo>
                    <a:pt x="0" y="0"/>
                  </a:moveTo>
                  <a:lnTo>
                    <a:pt x="3019548" y="0"/>
                  </a:lnTo>
                  <a:lnTo>
                    <a:pt x="30195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019548" cy="2680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380330"/>
            <a:ext cx="8115300" cy="7526339"/>
            <a:chOff x="0" y="0"/>
            <a:chExt cx="2137346" cy="1982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7346" cy="1982284"/>
            </a:xfrm>
            <a:custGeom>
              <a:avLst/>
              <a:gdLst/>
              <a:ahLst/>
              <a:cxnLst/>
              <a:rect r="r" b="b" t="t" l="l"/>
              <a:pathLst>
                <a:path h="1982284" w="2137346">
                  <a:moveTo>
                    <a:pt x="2137346" y="19080"/>
                  </a:moveTo>
                  <a:lnTo>
                    <a:pt x="2137346" y="1963205"/>
                  </a:lnTo>
                  <a:cubicBezTo>
                    <a:pt x="2137346" y="1973742"/>
                    <a:pt x="2128804" y="1982284"/>
                    <a:pt x="2118267" y="1982284"/>
                  </a:cubicBezTo>
                  <a:lnTo>
                    <a:pt x="19080" y="1982284"/>
                  </a:lnTo>
                  <a:cubicBezTo>
                    <a:pt x="8542" y="1982284"/>
                    <a:pt x="0" y="1973742"/>
                    <a:pt x="0" y="1963205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lnTo>
                    <a:pt x="2118267" y="0"/>
                  </a:lnTo>
                  <a:cubicBezTo>
                    <a:pt x="2128804" y="0"/>
                    <a:pt x="2137346" y="8542"/>
                    <a:pt x="2137346" y="1908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37346" cy="2020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09627" y="2133600"/>
            <a:ext cx="6753446" cy="603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Tras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co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lusión de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Cicl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3 y ha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b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 ago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ado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fas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pru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eba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fun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les y no funcional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planificadas para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ema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de gestión “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rí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GO-MI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”,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Eq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4 emit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u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ictame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de NO LIBERACIÓN p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la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sal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da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producc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ón 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 la apli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ción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su ve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sión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actua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.</a:t>
            </a:r>
          </a:p>
          <a:p>
            <a:pPr algn="just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 c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ntinuación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,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se funda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manera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ealista y té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nica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sta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ecisió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 c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base 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el histórico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de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prueb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s,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pr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bl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ema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persist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y la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x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peri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 f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in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us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ar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3000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</a:p>
          <a:p>
            <a:pPr algn="just" marL="0" indent="0" lvl="0">
              <a:lnSpc>
                <a:spcPts val="315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4479925"/>
            <a:ext cx="856852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TAN Mon Cheri"/>
                <a:ea typeface="TAN Mon Cheri"/>
                <a:cs typeface="TAN Mon Cheri"/>
                <a:sym typeface="TAN Mon Cheri"/>
              </a:rPr>
              <a:t>CONCLUSIÓN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280507"/>
            <a:chOff x="0" y="0"/>
            <a:chExt cx="4816593" cy="3372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337253"/>
            </a:xfrm>
            <a:custGeom>
              <a:avLst/>
              <a:gdLst/>
              <a:ahLst/>
              <a:cxnLst/>
              <a:rect r="r" b="b" t="t" l="l"/>
              <a:pathLst>
                <a:path h="3372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7253"/>
                  </a:lnTo>
                  <a:lnTo>
                    <a:pt x="0" y="33725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816593" cy="308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832" y="3314567"/>
            <a:ext cx="5927673" cy="6718963"/>
            <a:chOff x="0" y="0"/>
            <a:chExt cx="1748784" cy="1982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48784" cy="1982284"/>
            </a:xfrm>
            <a:custGeom>
              <a:avLst/>
              <a:gdLst/>
              <a:ahLst/>
              <a:cxnLst/>
              <a:rect r="r" b="b" t="t" l="l"/>
              <a:pathLst>
                <a:path h="1982284" w="1748784">
                  <a:moveTo>
                    <a:pt x="1748784" y="26121"/>
                  </a:moveTo>
                  <a:lnTo>
                    <a:pt x="1748784" y="1956163"/>
                  </a:lnTo>
                  <a:cubicBezTo>
                    <a:pt x="1748784" y="1963091"/>
                    <a:pt x="1746032" y="1969735"/>
                    <a:pt x="1741133" y="1974634"/>
                  </a:cubicBezTo>
                  <a:cubicBezTo>
                    <a:pt x="1736235" y="1979532"/>
                    <a:pt x="1729591" y="1982284"/>
                    <a:pt x="1722663" y="1982284"/>
                  </a:cubicBezTo>
                  <a:lnTo>
                    <a:pt x="26121" y="1982284"/>
                  </a:lnTo>
                  <a:cubicBezTo>
                    <a:pt x="19193" y="1982284"/>
                    <a:pt x="12549" y="1979532"/>
                    <a:pt x="7651" y="1974634"/>
                  </a:cubicBezTo>
                  <a:cubicBezTo>
                    <a:pt x="2752" y="1969735"/>
                    <a:pt x="0" y="1963091"/>
                    <a:pt x="0" y="1956163"/>
                  </a:cubicBezTo>
                  <a:lnTo>
                    <a:pt x="0" y="26121"/>
                  </a:lnTo>
                  <a:cubicBezTo>
                    <a:pt x="0" y="19193"/>
                    <a:pt x="2752" y="12549"/>
                    <a:pt x="7651" y="7651"/>
                  </a:cubicBezTo>
                  <a:cubicBezTo>
                    <a:pt x="12549" y="2752"/>
                    <a:pt x="19193" y="0"/>
                    <a:pt x="26121" y="0"/>
                  </a:cubicBezTo>
                  <a:lnTo>
                    <a:pt x="1722663" y="0"/>
                  </a:lnTo>
                  <a:cubicBezTo>
                    <a:pt x="1729591" y="0"/>
                    <a:pt x="1736235" y="2752"/>
                    <a:pt x="1741133" y="7651"/>
                  </a:cubicBezTo>
                  <a:cubicBezTo>
                    <a:pt x="1746032" y="12549"/>
                    <a:pt x="1748784" y="19193"/>
                    <a:pt x="1748784" y="2612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48784" cy="2020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15203" y="3979549"/>
            <a:ext cx="4932932" cy="518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07"/>
              </a:lnSpc>
              <a:spcBef>
                <a:spcPct val="0"/>
              </a:spcBef>
            </a:pPr>
            <a:r>
              <a:rPr lang="en-US" sz="2578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lo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go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lo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tr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ciclos d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pru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eba y el Smoke Te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st ini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cia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l, el proceso de QA logró identificar una cantidad considerabl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de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enci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as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que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fu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eron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r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eporta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das y gestionadas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 ti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empo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al.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Si bien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el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eq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uipo d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 des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ar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ro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lo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externo mostr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ó d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is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posi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ción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y log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ró mit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igar f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allas c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rí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tic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detec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tadas en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el C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ic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lo 1,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el rit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mo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re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oluc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ió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ha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lc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anz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ado lo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um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b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mí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nimo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de ac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ptación requeridos para u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entorno prod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uctiv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59740" y="86707"/>
            <a:ext cx="856852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TAN Mon Cheri"/>
                <a:ea typeface="TAN Mon Cheri"/>
                <a:cs typeface="TAN Mon Cheri"/>
                <a:sym typeface="TAN Mon Cheri"/>
              </a:rPr>
              <a:t>CONCLUSIÓN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80103" y="3314567"/>
            <a:ext cx="5927673" cy="6718963"/>
            <a:chOff x="0" y="0"/>
            <a:chExt cx="1748784" cy="19822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8784" cy="1982284"/>
            </a:xfrm>
            <a:custGeom>
              <a:avLst/>
              <a:gdLst/>
              <a:ahLst/>
              <a:cxnLst/>
              <a:rect r="r" b="b" t="t" l="l"/>
              <a:pathLst>
                <a:path h="1982284" w="1748784">
                  <a:moveTo>
                    <a:pt x="1748784" y="26121"/>
                  </a:moveTo>
                  <a:lnTo>
                    <a:pt x="1748784" y="1956163"/>
                  </a:lnTo>
                  <a:cubicBezTo>
                    <a:pt x="1748784" y="1963091"/>
                    <a:pt x="1746032" y="1969735"/>
                    <a:pt x="1741133" y="1974634"/>
                  </a:cubicBezTo>
                  <a:cubicBezTo>
                    <a:pt x="1736235" y="1979532"/>
                    <a:pt x="1729591" y="1982284"/>
                    <a:pt x="1722663" y="1982284"/>
                  </a:cubicBezTo>
                  <a:lnTo>
                    <a:pt x="26121" y="1982284"/>
                  </a:lnTo>
                  <a:cubicBezTo>
                    <a:pt x="19193" y="1982284"/>
                    <a:pt x="12549" y="1979532"/>
                    <a:pt x="7651" y="1974634"/>
                  </a:cubicBezTo>
                  <a:cubicBezTo>
                    <a:pt x="2752" y="1969735"/>
                    <a:pt x="0" y="1963091"/>
                    <a:pt x="0" y="1956163"/>
                  </a:cubicBezTo>
                  <a:lnTo>
                    <a:pt x="0" y="26121"/>
                  </a:lnTo>
                  <a:cubicBezTo>
                    <a:pt x="0" y="19193"/>
                    <a:pt x="2752" y="12549"/>
                    <a:pt x="7651" y="7651"/>
                  </a:cubicBezTo>
                  <a:cubicBezTo>
                    <a:pt x="12549" y="2752"/>
                    <a:pt x="19193" y="0"/>
                    <a:pt x="26121" y="0"/>
                  </a:cubicBezTo>
                  <a:lnTo>
                    <a:pt x="1722663" y="0"/>
                  </a:lnTo>
                  <a:cubicBezTo>
                    <a:pt x="1729591" y="0"/>
                    <a:pt x="1736235" y="2752"/>
                    <a:pt x="1741133" y="7651"/>
                  </a:cubicBezTo>
                  <a:cubicBezTo>
                    <a:pt x="1746032" y="12549"/>
                    <a:pt x="1748784" y="19193"/>
                    <a:pt x="1748784" y="2612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48784" cy="2020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77474" y="3979549"/>
            <a:ext cx="4932932" cy="361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12"/>
              </a:lnSpc>
              <a:spcBef>
                <a:spcPct val="0"/>
              </a:spcBef>
            </a:pPr>
            <a:r>
              <a:rPr lang="en-US" sz="2678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 pesar de encontrarnos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en l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fase de certifi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ac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ión fina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,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el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sistem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s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gu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 presentan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 un compor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ta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mient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inestabl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incompleto en ár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ea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cla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v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 del negocio:</a:t>
            </a:r>
          </a:p>
          <a:p>
            <a:pPr algn="just" marL="578219" indent="-289109" lvl="1">
              <a:lnSpc>
                <a:spcPts val="2812"/>
              </a:lnSpc>
              <a:spcBef>
                <a:spcPct val="0"/>
              </a:spcBef>
              <a:buFont typeface="Arial"/>
              <a:buChar char="•"/>
            </a:pP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Funcionalidad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es 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Ausentes</a:t>
            </a:r>
          </a:p>
          <a:p>
            <a:pPr algn="just" marL="578219" indent="-289109" lvl="1">
              <a:lnSpc>
                <a:spcPts val="2812"/>
              </a:lnSpc>
              <a:spcBef>
                <a:spcPct val="0"/>
              </a:spcBef>
              <a:buFont typeface="Arial"/>
              <a:buChar char="•"/>
            </a:pP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V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lidaciones Débile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</a:p>
          <a:p>
            <a:pPr algn="just" marL="578219" indent="-289109" lvl="1">
              <a:lnSpc>
                <a:spcPts val="2812"/>
              </a:lnSpc>
              <a:spcBef>
                <a:spcPct val="0"/>
              </a:spcBef>
              <a:buFont typeface="Arial"/>
              <a:buChar char="•"/>
            </a:pP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Sug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ren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ci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Pend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6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ntes</a:t>
            </a:r>
          </a:p>
          <a:p>
            <a:pPr algn="just" marL="0" indent="0" lvl="0">
              <a:lnSpc>
                <a:spcPts val="2812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2241127" y="3314567"/>
            <a:ext cx="5927673" cy="6718963"/>
            <a:chOff x="0" y="0"/>
            <a:chExt cx="1748784" cy="19822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48784" cy="1982284"/>
            </a:xfrm>
            <a:custGeom>
              <a:avLst/>
              <a:gdLst/>
              <a:ahLst/>
              <a:cxnLst/>
              <a:rect r="r" b="b" t="t" l="l"/>
              <a:pathLst>
                <a:path h="1982284" w="1748784">
                  <a:moveTo>
                    <a:pt x="1748784" y="26121"/>
                  </a:moveTo>
                  <a:lnTo>
                    <a:pt x="1748784" y="1956163"/>
                  </a:lnTo>
                  <a:cubicBezTo>
                    <a:pt x="1748784" y="1963091"/>
                    <a:pt x="1746032" y="1969735"/>
                    <a:pt x="1741133" y="1974634"/>
                  </a:cubicBezTo>
                  <a:cubicBezTo>
                    <a:pt x="1736235" y="1979532"/>
                    <a:pt x="1729591" y="1982284"/>
                    <a:pt x="1722663" y="1982284"/>
                  </a:cubicBezTo>
                  <a:lnTo>
                    <a:pt x="26121" y="1982284"/>
                  </a:lnTo>
                  <a:cubicBezTo>
                    <a:pt x="19193" y="1982284"/>
                    <a:pt x="12549" y="1979532"/>
                    <a:pt x="7651" y="1974634"/>
                  </a:cubicBezTo>
                  <a:cubicBezTo>
                    <a:pt x="2752" y="1969735"/>
                    <a:pt x="0" y="1963091"/>
                    <a:pt x="0" y="1956163"/>
                  </a:cubicBezTo>
                  <a:lnTo>
                    <a:pt x="0" y="26121"/>
                  </a:lnTo>
                  <a:cubicBezTo>
                    <a:pt x="0" y="19193"/>
                    <a:pt x="2752" y="12549"/>
                    <a:pt x="7651" y="7651"/>
                  </a:cubicBezTo>
                  <a:cubicBezTo>
                    <a:pt x="12549" y="2752"/>
                    <a:pt x="19193" y="0"/>
                    <a:pt x="26121" y="0"/>
                  </a:cubicBezTo>
                  <a:lnTo>
                    <a:pt x="1722663" y="0"/>
                  </a:lnTo>
                  <a:cubicBezTo>
                    <a:pt x="1729591" y="0"/>
                    <a:pt x="1736235" y="2752"/>
                    <a:pt x="1741133" y="7651"/>
                  </a:cubicBezTo>
                  <a:cubicBezTo>
                    <a:pt x="1746032" y="12549"/>
                    <a:pt x="1748784" y="19193"/>
                    <a:pt x="1748784" y="26121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48784" cy="2020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736427" y="3979549"/>
            <a:ext cx="4935003" cy="552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07"/>
              </a:lnSpc>
              <a:spcBef>
                <a:spcPct val="0"/>
              </a:spcBef>
            </a:pPr>
            <a:r>
              <a:rPr lang="en-US" sz="2578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Los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result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ad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os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obt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os en la automa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tiza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ción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pr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nta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 un ri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es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go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la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para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la experi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encia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del usua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rio. Si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bi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 l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arq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ect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ura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del s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istema demostró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esilienci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al no co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lapsa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r,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pero la degradac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ión d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el rendim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ento 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inac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ep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b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le.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Que l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os ti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empo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de respues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se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even hasta los 18 y 24 segu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dos deb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do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la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ur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ción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l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erv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dor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dictami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n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 que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el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istema no 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s capaz de ofr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ecer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una 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ex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peri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enci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a flu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ida en escena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rios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e al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ta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demanda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 come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r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c</a:t>
            </a:r>
            <a:r>
              <a:rPr lang="en-US" sz="2578" strike="noStrike" u="none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ial.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0" y="1766832"/>
            <a:ext cx="6097435" cy="1061960"/>
            <a:chOff x="0" y="0"/>
            <a:chExt cx="2795160" cy="4868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95160" cy="486833"/>
            </a:xfrm>
            <a:custGeom>
              <a:avLst/>
              <a:gdLst/>
              <a:ahLst/>
              <a:cxnLst/>
              <a:rect r="r" b="b" t="t" l="l"/>
              <a:pathLst>
                <a:path h="486833" w="2795160">
                  <a:moveTo>
                    <a:pt x="2795160" y="25394"/>
                  </a:moveTo>
                  <a:lnTo>
                    <a:pt x="2795160" y="461439"/>
                  </a:lnTo>
                  <a:cubicBezTo>
                    <a:pt x="2795160" y="468173"/>
                    <a:pt x="2792485" y="474633"/>
                    <a:pt x="2787723" y="479395"/>
                  </a:cubicBezTo>
                  <a:cubicBezTo>
                    <a:pt x="2782960" y="484157"/>
                    <a:pt x="2776501" y="486833"/>
                    <a:pt x="2769766" y="486833"/>
                  </a:cubicBezTo>
                  <a:lnTo>
                    <a:pt x="25394" y="486833"/>
                  </a:lnTo>
                  <a:cubicBezTo>
                    <a:pt x="11369" y="486833"/>
                    <a:pt x="0" y="475463"/>
                    <a:pt x="0" y="461439"/>
                  </a:cubicBezTo>
                  <a:lnTo>
                    <a:pt x="0" y="25394"/>
                  </a:lnTo>
                  <a:cubicBezTo>
                    <a:pt x="0" y="11369"/>
                    <a:pt x="11369" y="0"/>
                    <a:pt x="25394" y="0"/>
                  </a:cubicBezTo>
                  <a:lnTo>
                    <a:pt x="2769766" y="0"/>
                  </a:lnTo>
                  <a:cubicBezTo>
                    <a:pt x="2776501" y="0"/>
                    <a:pt x="2782960" y="2675"/>
                    <a:pt x="2787723" y="7438"/>
                  </a:cubicBezTo>
                  <a:cubicBezTo>
                    <a:pt x="2792485" y="12200"/>
                    <a:pt x="2795160" y="18659"/>
                    <a:pt x="2795160" y="2539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2795160" cy="55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44594B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Balance de Pruebas y Madurez del Sistema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093131" y="1766832"/>
            <a:ext cx="6097435" cy="1061960"/>
            <a:chOff x="0" y="0"/>
            <a:chExt cx="2795160" cy="4868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95160" cy="486833"/>
            </a:xfrm>
            <a:custGeom>
              <a:avLst/>
              <a:gdLst/>
              <a:ahLst/>
              <a:cxnLst/>
              <a:rect r="r" b="b" t="t" l="l"/>
              <a:pathLst>
                <a:path h="486833" w="2795160">
                  <a:moveTo>
                    <a:pt x="2795160" y="25394"/>
                  </a:moveTo>
                  <a:lnTo>
                    <a:pt x="2795160" y="461439"/>
                  </a:lnTo>
                  <a:cubicBezTo>
                    <a:pt x="2795160" y="468173"/>
                    <a:pt x="2792485" y="474633"/>
                    <a:pt x="2787723" y="479395"/>
                  </a:cubicBezTo>
                  <a:cubicBezTo>
                    <a:pt x="2782960" y="484157"/>
                    <a:pt x="2776501" y="486833"/>
                    <a:pt x="2769766" y="486833"/>
                  </a:cubicBezTo>
                  <a:lnTo>
                    <a:pt x="25394" y="486833"/>
                  </a:lnTo>
                  <a:cubicBezTo>
                    <a:pt x="11369" y="486833"/>
                    <a:pt x="0" y="475463"/>
                    <a:pt x="0" y="461439"/>
                  </a:cubicBezTo>
                  <a:lnTo>
                    <a:pt x="0" y="25394"/>
                  </a:lnTo>
                  <a:cubicBezTo>
                    <a:pt x="0" y="11369"/>
                    <a:pt x="11369" y="0"/>
                    <a:pt x="25394" y="0"/>
                  </a:cubicBezTo>
                  <a:lnTo>
                    <a:pt x="2769766" y="0"/>
                  </a:lnTo>
                  <a:cubicBezTo>
                    <a:pt x="2776501" y="0"/>
                    <a:pt x="2782960" y="2675"/>
                    <a:pt x="2787723" y="7438"/>
                  </a:cubicBezTo>
                  <a:cubicBezTo>
                    <a:pt x="2792485" y="12200"/>
                    <a:pt x="2795160" y="18659"/>
                    <a:pt x="2795160" y="2539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2795160" cy="55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44594B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Incidencias y Bloqueos en el Ciclo 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94869" y="1766832"/>
            <a:ext cx="6097435" cy="1061960"/>
            <a:chOff x="0" y="0"/>
            <a:chExt cx="2795160" cy="4868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95160" cy="486833"/>
            </a:xfrm>
            <a:custGeom>
              <a:avLst/>
              <a:gdLst/>
              <a:ahLst/>
              <a:cxnLst/>
              <a:rect r="r" b="b" t="t" l="l"/>
              <a:pathLst>
                <a:path h="486833" w="2795160">
                  <a:moveTo>
                    <a:pt x="2795160" y="25394"/>
                  </a:moveTo>
                  <a:lnTo>
                    <a:pt x="2795160" y="461439"/>
                  </a:lnTo>
                  <a:cubicBezTo>
                    <a:pt x="2795160" y="468173"/>
                    <a:pt x="2792485" y="474633"/>
                    <a:pt x="2787723" y="479395"/>
                  </a:cubicBezTo>
                  <a:cubicBezTo>
                    <a:pt x="2782960" y="484157"/>
                    <a:pt x="2776501" y="486833"/>
                    <a:pt x="2769766" y="486833"/>
                  </a:cubicBezTo>
                  <a:lnTo>
                    <a:pt x="25394" y="486833"/>
                  </a:lnTo>
                  <a:cubicBezTo>
                    <a:pt x="11369" y="486833"/>
                    <a:pt x="0" y="475463"/>
                    <a:pt x="0" y="461439"/>
                  </a:cubicBezTo>
                  <a:lnTo>
                    <a:pt x="0" y="25394"/>
                  </a:lnTo>
                  <a:cubicBezTo>
                    <a:pt x="0" y="11369"/>
                    <a:pt x="11369" y="0"/>
                    <a:pt x="25394" y="0"/>
                  </a:cubicBezTo>
                  <a:lnTo>
                    <a:pt x="2769766" y="0"/>
                  </a:lnTo>
                  <a:cubicBezTo>
                    <a:pt x="2776501" y="0"/>
                    <a:pt x="2782960" y="2675"/>
                    <a:pt x="2787723" y="7438"/>
                  </a:cubicBezTo>
                  <a:cubicBezTo>
                    <a:pt x="2792485" y="12200"/>
                    <a:pt x="2795160" y="18659"/>
                    <a:pt x="2795160" y="2539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2795160" cy="563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44594B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Riesgos No Funcionales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57993" y="0"/>
            <a:ext cx="8130007" cy="10287000"/>
            <a:chOff x="0" y="0"/>
            <a:chExt cx="214123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123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41236">
                  <a:moveTo>
                    <a:pt x="0" y="0"/>
                  </a:moveTo>
                  <a:lnTo>
                    <a:pt x="2141236" y="0"/>
                  </a:lnTo>
                  <a:lnTo>
                    <a:pt x="21412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89E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141236" cy="2680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7744" y="788505"/>
            <a:ext cx="10358738" cy="8709990"/>
            <a:chOff x="0" y="0"/>
            <a:chExt cx="2357455" cy="1982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57455" cy="1982284"/>
            </a:xfrm>
            <a:custGeom>
              <a:avLst/>
              <a:gdLst/>
              <a:ahLst/>
              <a:cxnLst/>
              <a:rect r="r" b="b" t="t" l="l"/>
              <a:pathLst>
                <a:path h="1982284" w="2357455">
                  <a:moveTo>
                    <a:pt x="2357455" y="14948"/>
                  </a:moveTo>
                  <a:lnTo>
                    <a:pt x="2357455" y="1967337"/>
                  </a:lnTo>
                  <a:cubicBezTo>
                    <a:pt x="2357455" y="1971301"/>
                    <a:pt x="2355880" y="1975103"/>
                    <a:pt x="2353077" y="1977906"/>
                  </a:cubicBezTo>
                  <a:cubicBezTo>
                    <a:pt x="2350274" y="1980710"/>
                    <a:pt x="2346472" y="1982284"/>
                    <a:pt x="2342507" y="1982284"/>
                  </a:cubicBezTo>
                  <a:lnTo>
                    <a:pt x="14948" y="1982284"/>
                  </a:lnTo>
                  <a:cubicBezTo>
                    <a:pt x="10983" y="1982284"/>
                    <a:pt x="7181" y="1980710"/>
                    <a:pt x="4378" y="1977906"/>
                  </a:cubicBezTo>
                  <a:cubicBezTo>
                    <a:pt x="1575" y="1975103"/>
                    <a:pt x="0" y="1971301"/>
                    <a:pt x="0" y="1967337"/>
                  </a:cubicBezTo>
                  <a:lnTo>
                    <a:pt x="0" y="14948"/>
                  </a:lnTo>
                  <a:cubicBezTo>
                    <a:pt x="0" y="10983"/>
                    <a:pt x="1575" y="7181"/>
                    <a:pt x="4378" y="4378"/>
                  </a:cubicBezTo>
                  <a:cubicBezTo>
                    <a:pt x="7181" y="1575"/>
                    <a:pt x="10983" y="0"/>
                    <a:pt x="14948" y="0"/>
                  </a:cubicBezTo>
                  <a:lnTo>
                    <a:pt x="2342507" y="0"/>
                  </a:lnTo>
                  <a:cubicBezTo>
                    <a:pt x="2346472" y="0"/>
                    <a:pt x="2350274" y="1575"/>
                    <a:pt x="2353077" y="4378"/>
                  </a:cubicBezTo>
                  <a:cubicBezTo>
                    <a:pt x="2355880" y="7181"/>
                    <a:pt x="2357455" y="10983"/>
                    <a:pt x="2357455" y="1494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57455" cy="2020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56910" y="1657244"/>
            <a:ext cx="8620407" cy="745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9"/>
              </a:lnSpc>
            </a:pPr>
            <a:r>
              <a:rPr lang="en-US" sz="2999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Una aplicación de gestión comercial tiene como propósito sustituir procesos manuales para volverlos más rápidos y seguros. Entregar la plataforma Papelería GO-MI en su estado actual provocaría frustración en el usuario final debido a la lentitud del sistema bajo carga masiva, la falta de controles estrictos en los formularios y la ausencia de botones esenciales.</a:t>
            </a:r>
          </a:p>
          <a:p>
            <a:pPr algn="just">
              <a:lnSpc>
                <a:spcPts val="3149"/>
              </a:lnSpc>
            </a:pPr>
          </a:p>
          <a:p>
            <a:pPr algn="just">
              <a:lnSpc>
                <a:spcPts val="3149"/>
              </a:lnSpc>
            </a:pPr>
            <a:r>
              <a:rPr lang="en-US" sz="2999">
                <a:solidFill>
                  <a:srgbClr val="44594B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Por lo tanto, el software se declara en estado "NO APTO" para producción. Se recomienda congelar la liberación hasta que el equipo de desarrollo externo solvente el 100% de las incidencias acumuladas en el Ciclo 3, aplique un límite estricto a las entradas de texto del lienzo de Flet, y optimice los tiempos de respuesta en las consultas de la base de datos embebida.</a:t>
            </a:r>
          </a:p>
          <a:p>
            <a:pPr algn="just" marL="0" indent="0" lvl="0">
              <a:lnSpc>
                <a:spcPts val="314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14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373445" y="4479925"/>
            <a:ext cx="856852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TAN Mon Cheri"/>
                <a:ea typeface="TAN Mon Cheri"/>
                <a:cs typeface="TAN Mon Cheri"/>
                <a:sym typeface="TAN Mon Cheri"/>
              </a:rPr>
              <a:t>VEREDICTO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8472" y="0"/>
            <a:ext cx="10389528" cy="10287000"/>
          </a:xfrm>
          <a:custGeom>
            <a:avLst/>
            <a:gdLst/>
            <a:ahLst/>
            <a:cxnLst/>
            <a:rect r="r" b="b" t="t" l="l"/>
            <a:pathLst>
              <a:path h="10287000" w="10389528">
                <a:moveTo>
                  <a:pt x="0" y="0"/>
                </a:moveTo>
                <a:lnTo>
                  <a:pt x="10389528" y="0"/>
                </a:lnTo>
                <a:lnTo>
                  <a:pt x="103895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19105" y="445323"/>
            <a:ext cx="2114989" cy="2303453"/>
          </a:xfrm>
          <a:custGeom>
            <a:avLst/>
            <a:gdLst/>
            <a:ahLst/>
            <a:cxnLst/>
            <a:rect r="r" b="b" t="t" l="l"/>
            <a:pathLst>
              <a:path h="2303453" w="2114989">
                <a:moveTo>
                  <a:pt x="0" y="0"/>
                </a:moveTo>
                <a:lnTo>
                  <a:pt x="2114989" y="0"/>
                </a:lnTo>
                <a:lnTo>
                  <a:pt x="2114989" y="2303453"/>
                </a:lnTo>
                <a:lnTo>
                  <a:pt x="0" y="2303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09029" y="3816076"/>
            <a:ext cx="12578886" cy="280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80"/>
              </a:lnSpc>
            </a:pPr>
            <a:r>
              <a:rPr lang="en-US" sz="10362">
                <a:solidFill>
                  <a:srgbClr val="889E90"/>
                </a:solidFill>
                <a:latin typeface="TAN Mon Cheri"/>
                <a:ea typeface="TAN Mon Cheri"/>
                <a:cs typeface="TAN Mon Cheri"/>
                <a:sym typeface="TAN Mon Cheri"/>
              </a:rPr>
              <a:t>GRACIAS A TODOS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96173" y="7405464"/>
            <a:ext cx="832406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3500">
                <a:solidFill>
                  <a:srgbClr val="44594B"/>
                </a:solidFill>
                <a:latin typeface="TAN Mon Cheri"/>
                <a:ea typeface="TAN Mon Cheri"/>
                <a:cs typeface="TAN Mon Cheri"/>
                <a:sym typeface="TAN Mon Cheri"/>
              </a:rPr>
              <a:t>Nos vemos...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DAHMlI-ioAQ</dc:identifier>
  <dcterms:modified xsi:type="dcterms:W3CDTF">2011-08-01T06:04:30Z</dcterms:modified>
  <cp:revision>1</cp:revision>
  <dc:title>ReporteFinal</dc:title>
</cp:coreProperties>
</file>